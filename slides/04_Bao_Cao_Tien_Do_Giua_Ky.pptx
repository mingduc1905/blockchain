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14"/>
  </p:notesMasterIdLst>
  <p:sldIdLst>
    <p:sldId id="465" r:id="rId4"/>
    <p:sldId id="466" r:id="rId5"/>
    <p:sldId id="468" r:id="rId6"/>
    <p:sldId id="493" r:id="rId7"/>
    <p:sldId id="470" r:id="rId8"/>
    <p:sldId id="474" r:id="rId9"/>
    <p:sldId id="492" r:id="rId10"/>
    <p:sldId id="475" r:id="rId11"/>
    <p:sldId id="491" r:id="rId12"/>
    <p:sldId id="490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0604"/>
    <a:srgbClr val="222222"/>
    <a:srgbClr val="153F82"/>
    <a:srgbClr val="B31C2F"/>
    <a:srgbClr val="FFFFFF"/>
    <a:srgbClr val="074098"/>
    <a:srgbClr val="AE0A29"/>
    <a:srgbClr val="4F5D79"/>
    <a:srgbClr val="6F1682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88" autoAdjust="0"/>
    <p:restoredTop sz="94660"/>
  </p:normalViewPr>
  <p:slideViewPr>
    <p:cSldViewPr snapToGrid="0">
      <p:cViewPr>
        <p:scale>
          <a:sx n="75" d="100"/>
          <a:sy n="75" d="100"/>
        </p:scale>
        <p:origin x="57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ACD57-5B3F-403B-AE8D-B9A810C4EB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D8D28-79A6-4C89-82CE-9EC693ED11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38065" y="315104"/>
            <a:ext cx="2403244" cy="749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85215" y="37465"/>
            <a:ext cx="2237740" cy="6982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E297-474B-4A86-A7C8-228BCE0B5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77DEB-90F5-4A8C-8837-7104AE75A0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38065" y="315104"/>
            <a:ext cx="2403244" cy="749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85215" y="37465"/>
            <a:ext cx="2237740" cy="6982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zouchenzhen.github.io/thesis-leo-routin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7.xml" /><rel:Relationship Id="rIdImg31" Type="http://schemas.openxmlformats.org/officeDocument/2006/relationships/image" Target="../media/hinh_3_1.png" /></rel:Relationships>
</file>

<file path=ppt/slides/_rels/slide7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7.xml" /><rel:Relationship Id="rIdImg32" Type="http://schemas.openxmlformats.org/officeDocument/2006/relationships/image" Target="../media/hinh_3_2.png" /></rel:Relationships>
</file>

<file path=ppt/slides/_rels/slide8.xml.rels><?xml version='1.0' encoding='utf-8'?>
<rel:Relationships xmlns:rel="http://schemas.openxmlformats.org/package/2006/relationships"><rel:Relationship Id="rId1" Type="http://schemas.openxmlformats.org/officeDocument/2006/relationships/slideLayout" Target="../slideLayouts/slideLayout7.xml" /><rel:Relationship Id="rIdImg41" Type="http://schemas.openxmlformats.org/officeDocument/2006/relationships/image" Target="../media/hinh_4_1.png" /><rel:Relationship Id="rIdImg42" Type="http://schemas.openxmlformats.org/officeDocument/2006/relationships/image" Target="../media/hinh_4_2.png" /></rel: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ns2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991141"/>
            <a:ext cx="12192000" cy="21780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891525" y="2490145"/>
            <a:ext cx="65966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600" dirty="0">
                <a:solidFill>
                  <a:schemeClr val="bg1"/>
                </a:solidFill>
              </a:rPr>
              <a:t>BÁO CÁO TIẾN ĐỘ ĐỒ ÁN GIỮA KỲ</a:t>
            </a:r>
            <a:endParaRPr lang="zh-CN" altLang="en-US" sz="4400" b="1" spc="600" dirty="0">
              <a:solidFill>
                <a:schemeClr val="bg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420361" y="3521525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spc="300" dirty="0">
                <a:solidFill>
                  <a:schemeClr val="bg1"/>
                </a:solidFill>
              </a:rPr>
              <a:t>ĐỀ TÀI 4: HÓA ĐƠN ĐIỆN TỬ CHỐNG GIAN LẬN THUẾ TRÊN BLOCKCHAIN</a:t>
            </a:r>
            <a:endParaRPr lang="en-US" altLang="zh-CN" sz="2000" spc="300" dirty="0">
              <a:solidFill>
                <a:schemeClr val="bg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471583" y="4889265"/>
            <a:ext cx="1461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/>
              <a:t>Sinh viên thực hiện: Nhóm Sinh viên Đề tài 4</a:t>
            </a:r>
            <a:endParaRPr lang="zh-CN" altLang="en-US" spc="300" dirty="0"/>
          </a:p>
        </p:txBody>
      </p:sp>
      <p:sp>
        <p:nvSpPr>
          <p:cNvPr id="91" name="Freeform 174"/>
          <p:cNvSpPr/>
          <p:nvPr/>
        </p:nvSpPr>
        <p:spPr bwMode="auto">
          <a:xfrm>
            <a:off x="2179264" y="4965931"/>
            <a:ext cx="216000" cy="216000"/>
          </a:xfrm>
          <a:custGeom>
            <a:avLst/>
            <a:gdLst>
              <a:gd name="T0" fmla="*/ 128 w 128"/>
              <a:gd name="T1" fmla="*/ 128 h 128"/>
              <a:gd name="T2" fmla="*/ 128 w 128"/>
              <a:gd name="T3" fmla="*/ 115 h 128"/>
              <a:gd name="T4" fmla="*/ 118 w 128"/>
              <a:gd name="T5" fmla="*/ 101 h 128"/>
              <a:gd name="T6" fmla="*/ 118 w 128"/>
              <a:gd name="T7" fmla="*/ 101 h 128"/>
              <a:gd name="T8" fmla="*/ 83 w 128"/>
              <a:gd name="T9" fmla="*/ 84 h 128"/>
              <a:gd name="T10" fmla="*/ 85 w 128"/>
              <a:gd name="T11" fmla="*/ 72 h 128"/>
              <a:gd name="T12" fmla="*/ 88 w 128"/>
              <a:gd name="T13" fmla="*/ 68 h 128"/>
              <a:gd name="T14" fmla="*/ 88 w 128"/>
              <a:gd name="T15" fmla="*/ 68 h 128"/>
              <a:gd name="T16" fmla="*/ 88 w 128"/>
              <a:gd name="T17" fmla="*/ 68 h 128"/>
              <a:gd name="T18" fmla="*/ 97 w 128"/>
              <a:gd name="T19" fmla="*/ 36 h 128"/>
              <a:gd name="T20" fmla="*/ 64 w 128"/>
              <a:gd name="T21" fmla="*/ 0 h 128"/>
              <a:gd name="T22" fmla="*/ 64 w 128"/>
              <a:gd name="T23" fmla="*/ 0 h 128"/>
              <a:gd name="T24" fmla="*/ 64 w 128"/>
              <a:gd name="T25" fmla="*/ 0 h 128"/>
              <a:gd name="T26" fmla="*/ 64 w 128"/>
              <a:gd name="T27" fmla="*/ 0 h 128"/>
              <a:gd name="T28" fmla="*/ 64 w 128"/>
              <a:gd name="T29" fmla="*/ 0 h 128"/>
              <a:gd name="T30" fmla="*/ 31 w 128"/>
              <a:gd name="T31" fmla="*/ 36 h 128"/>
              <a:gd name="T32" fmla="*/ 40 w 128"/>
              <a:gd name="T33" fmla="*/ 68 h 128"/>
              <a:gd name="T34" fmla="*/ 40 w 128"/>
              <a:gd name="T35" fmla="*/ 68 h 128"/>
              <a:gd name="T36" fmla="*/ 40 w 128"/>
              <a:gd name="T37" fmla="*/ 68 h 128"/>
              <a:gd name="T38" fmla="*/ 43 w 128"/>
              <a:gd name="T39" fmla="*/ 72 h 128"/>
              <a:gd name="T40" fmla="*/ 45 w 128"/>
              <a:gd name="T41" fmla="*/ 84 h 128"/>
              <a:gd name="T42" fmla="*/ 10 w 128"/>
              <a:gd name="T43" fmla="*/ 101 h 128"/>
              <a:gd name="T44" fmla="*/ 10 w 128"/>
              <a:gd name="T45" fmla="*/ 101 h 128"/>
              <a:gd name="T46" fmla="*/ 0 w 128"/>
              <a:gd name="T47" fmla="*/ 115 h 128"/>
              <a:gd name="T48" fmla="*/ 0 w 128"/>
              <a:gd name="T49" fmla="*/ 128 h 128"/>
              <a:gd name="T50" fmla="*/ 128 w 128"/>
              <a:gd name="T51" fmla="*/ 12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8" h="128">
                <a:moveTo>
                  <a:pt x="128" y="128"/>
                </a:moveTo>
                <a:cubicBezTo>
                  <a:pt x="128" y="115"/>
                  <a:pt x="128" y="115"/>
                  <a:pt x="128" y="115"/>
                </a:cubicBezTo>
                <a:cubicBezTo>
                  <a:pt x="128" y="108"/>
                  <a:pt x="124" y="103"/>
                  <a:pt x="118" y="101"/>
                </a:cubicBezTo>
                <a:cubicBezTo>
                  <a:pt x="118" y="101"/>
                  <a:pt x="118" y="101"/>
                  <a:pt x="118" y="101"/>
                </a:cubicBezTo>
                <a:cubicBezTo>
                  <a:pt x="117" y="100"/>
                  <a:pt x="87" y="93"/>
                  <a:pt x="83" y="84"/>
                </a:cubicBezTo>
                <a:cubicBezTo>
                  <a:pt x="81" y="80"/>
                  <a:pt x="83" y="75"/>
                  <a:pt x="85" y="72"/>
                </a:cubicBezTo>
                <a:cubicBezTo>
                  <a:pt x="86" y="71"/>
                  <a:pt x="87" y="69"/>
                  <a:pt x="88" y="68"/>
                </a:cubicBezTo>
                <a:cubicBezTo>
                  <a:pt x="88" y="68"/>
                  <a:pt x="88" y="68"/>
                  <a:pt x="88" y="68"/>
                </a:cubicBezTo>
                <a:cubicBezTo>
                  <a:pt x="88" y="68"/>
                  <a:pt x="88" y="68"/>
                  <a:pt x="88" y="68"/>
                </a:cubicBezTo>
                <a:cubicBezTo>
                  <a:pt x="93" y="60"/>
                  <a:pt x="97" y="49"/>
                  <a:pt x="97" y="36"/>
                </a:cubicBezTo>
                <a:cubicBezTo>
                  <a:pt x="98" y="16"/>
                  <a:pt x="82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46" y="0"/>
                  <a:pt x="30" y="16"/>
                  <a:pt x="31" y="36"/>
                </a:cubicBezTo>
                <a:cubicBezTo>
                  <a:pt x="31" y="49"/>
                  <a:pt x="35" y="60"/>
                  <a:pt x="40" y="68"/>
                </a:cubicBezTo>
                <a:cubicBezTo>
                  <a:pt x="40" y="68"/>
                  <a:pt x="40" y="68"/>
                  <a:pt x="40" y="68"/>
                </a:cubicBezTo>
                <a:cubicBezTo>
                  <a:pt x="40" y="68"/>
                  <a:pt x="40" y="68"/>
                  <a:pt x="40" y="68"/>
                </a:cubicBezTo>
                <a:cubicBezTo>
                  <a:pt x="41" y="69"/>
                  <a:pt x="42" y="71"/>
                  <a:pt x="43" y="72"/>
                </a:cubicBezTo>
                <a:cubicBezTo>
                  <a:pt x="45" y="75"/>
                  <a:pt x="47" y="80"/>
                  <a:pt x="45" y="84"/>
                </a:cubicBezTo>
                <a:cubicBezTo>
                  <a:pt x="41" y="93"/>
                  <a:pt x="11" y="100"/>
                  <a:pt x="10" y="101"/>
                </a:cubicBezTo>
                <a:cubicBezTo>
                  <a:pt x="10" y="101"/>
                  <a:pt x="10" y="101"/>
                  <a:pt x="10" y="101"/>
                </a:cubicBezTo>
                <a:cubicBezTo>
                  <a:pt x="4" y="103"/>
                  <a:pt x="0" y="108"/>
                  <a:pt x="0" y="115"/>
                </a:cubicBezTo>
                <a:cubicBezTo>
                  <a:pt x="0" y="128"/>
                  <a:pt x="0" y="128"/>
                  <a:pt x="0" y="128"/>
                </a:cubicBezTo>
                <a:lnTo>
                  <a:pt x="128" y="1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8042438" y="5394262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Học kỳ 2 — Năm học 2025 - 2026</a:t>
            </a:r>
            <a:r>
              <a:rPr lang="en-US" altLang="zh-CN" spc="200" dirty="0"/>
              <a:t>Học kỳ 2 — Năm học 2025 - 2026</a:t>
            </a:r>
            <a:endParaRPr lang="zh-CN" altLang="en-US" dirty="0"/>
          </a:p>
        </p:txBody>
      </p:sp>
      <p:grpSp>
        <p:nvGrpSpPr>
          <p:cNvPr id="92" name="组合 91"/>
          <p:cNvGrpSpPr/>
          <p:nvPr/>
        </p:nvGrpSpPr>
        <p:grpSpPr>
          <a:xfrm>
            <a:off x="7750119" y="5470928"/>
            <a:ext cx="216000" cy="216000"/>
            <a:chOff x="7296150" y="5111751"/>
            <a:chExt cx="479425" cy="481013"/>
          </a:xfrm>
          <a:solidFill>
            <a:schemeClr val="accent1"/>
          </a:solidFill>
        </p:grpSpPr>
        <p:sp>
          <p:nvSpPr>
            <p:cNvPr id="93" name="Freeform 56"/>
            <p:cNvSpPr>
              <a:spLocks noEditPoints="1"/>
            </p:cNvSpPr>
            <p:nvPr/>
          </p:nvSpPr>
          <p:spPr bwMode="auto">
            <a:xfrm>
              <a:off x="7296150" y="5111751"/>
              <a:ext cx="479425" cy="481013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64 w 128"/>
                <a:gd name="T11" fmla="*/ 113 h 128"/>
                <a:gd name="T12" fmla="*/ 15 w 128"/>
                <a:gd name="T13" fmla="*/ 64 h 128"/>
                <a:gd name="T14" fmla="*/ 64 w 128"/>
                <a:gd name="T15" fmla="*/ 15 h 128"/>
                <a:gd name="T16" fmla="*/ 113 w 128"/>
                <a:gd name="T17" fmla="*/ 64 h 128"/>
                <a:gd name="T18" fmla="*/ 64 w 128"/>
                <a:gd name="T19" fmla="*/ 11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64" y="113"/>
                  </a:moveTo>
                  <a:cubicBezTo>
                    <a:pt x="37" y="113"/>
                    <a:pt x="15" y="91"/>
                    <a:pt x="15" y="64"/>
                  </a:cubicBezTo>
                  <a:cubicBezTo>
                    <a:pt x="15" y="37"/>
                    <a:pt x="37" y="15"/>
                    <a:pt x="64" y="15"/>
                  </a:cubicBezTo>
                  <a:cubicBezTo>
                    <a:pt x="91" y="15"/>
                    <a:pt x="113" y="37"/>
                    <a:pt x="113" y="64"/>
                  </a:cubicBezTo>
                  <a:cubicBezTo>
                    <a:pt x="113" y="91"/>
                    <a:pt x="91" y="113"/>
                    <a:pt x="64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ns2:hiddenLine w="9525">
                  <a:solidFill>
                    <a:srgbClr val="000000"/>
                  </a:solidFill>
                  <a:round/>
                </ns2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57"/>
            <p:cNvSpPr/>
            <p:nvPr/>
          </p:nvSpPr>
          <p:spPr bwMode="auto">
            <a:xfrm>
              <a:off x="7508875" y="5221288"/>
              <a:ext cx="153988" cy="214313"/>
            </a:xfrm>
            <a:custGeom>
              <a:avLst/>
              <a:gdLst>
                <a:gd name="T0" fmla="*/ 33 w 97"/>
                <a:gd name="T1" fmla="*/ 0 h 135"/>
                <a:gd name="T2" fmla="*/ 0 w 97"/>
                <a:gd name="T3" fmla="*/ 0 h 135"/>
                <a:gd name="T4" fmla="*/ 0 w 97"/>
                <a:gd name="T5" fmla="*/ 99 h 135"/>
                <a:gd name="T6" fmla="*/ 86 w 97"/>
                <a:gd name="T7" fmla="*/ 135 h 135"/>
                <a:gd name="T8" fmla="*/ 97 w 97"/>
                <a:gd name="T9" fmla="*/ 104 h 135"/>
                <a:gd name="T10" fmla="*/ 33 w 97"/>
                <a:gd name="T11" fmla="*/ 78 h 135"/>
                <a:gd name="T12" fmla="*/ 33 w 97"/>
                <a:gd name="T1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35">
                  <a:moveTo>
                    <a:pt x="33" y="0"/>
                  </a:moveTo>
                  <a:lnTo>
                    <a:pt x="0" y="0"/>
                  </a:lnTo>
                  <a:lnTo>
                    <a:pt x="0" y="99"/>
                  </a:lnTo>
                  <a:lnTo>
                    <a:pt x="86" y="135"/>
                  </a:lnTo>
                  <a:lnTo>
                    <a:pt x="97" y="104"/>
                  </a:lnTo>
                  <a:lnTo>
                    <a:pt x="33" y="78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ns2:hiddenLine w="9525">
                  <a:solidFill>
                    <a:srgbClr val="000000"/>
                  </a:solidFill>
                  <a:round/>
                </ns2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8042438" y="4889803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Khoa Công nghệ Thông tin — ĐH Ngoại ngữ - Tin học TP.HCM (HUFLIT)</a:t>
            </a:r>
            <a:endParaRPr lang="zh-CN" altLang="en-US" dirty="0"/>
          </a:p>
        </p:txBody>
      </p:sp>
      <p:sp>
        <p:nvSpPr>
          <p:cNvPr id="95" name="Freeform 146"/>
          <p:cNvSpPr/>
          <p:nvPr/>
        </p:nvSpPr>
        <p:spPr bwMode="auto">
          <a:xfrm>
            <a:off x="7767775" y="4967119"/>
            <a:ext cx="180689" cy="214701"/>
          </a:xfrm>
          <a:custGeom>
            <a:avLst/>
            <a:gdLst>
              <a:gd name="T0" fmla="*/ 14 w 108"/>
              <a:gd name="T1" fmla="*/ 10 h 128"/>
              <a:gd name="T2" fmla="*/ 14 w 108"/>
              <a:gd name="T3" fmla="*/ 10 h 128"/>
              <a:gd name="T4" fmla="*/ 108 w 108"/>
              <a:gd name="T5" fmla="*/ 10 h 128"/>
              <a:gd name="T6" fmla="*/ 108 w 108"/>
              <a:gd name="T7" fmla="*/ 0 h 128"/>
              <a:gd name="T8" fmla="*/ 15 w 108"/>
              <a:gd name="T9" fmla="*/ 0 h 128"/>
              <a:gd name="T10" fmla="*/ 0 w 108"/>
              <a:gd name="T11" fmla="*/ 15 h 128"/>
              <a:gd name="T12" fmla="*/ 0 w 108"/>
              <a:gd name="T13" fmla="*/ 113 h 128"/>
              <a:gd name="T14" fmla="*/ 0 w 108"/>
              <a:gd name="T15" fmla="*/ 113 h 128"/>
              <a:gd name="T16" fmla="*/ 15 w 108"/>
              <a:gd name="T17" fmla="*/ 128 h 128"/>
              <a:gd name="T18" fmla="*/ 108 w 108"/>
              <a:gd name="T19" fmla="*/ 128 h 128"/>
              <a:gd name="T20" fmla="*/ 108 w 108"/>
              <a:gd name="T21" fmla="*/ 20 h 128"/>
              <a:gd name="T22" fmla="*/ 14 w 108"/>
              <a:gd name="T23" fmla="*/ 20 h 128"/>
              <a:gd name="T24" fmla="*/ 14 w 108"/>
              <a:gd name="T25" fmla="*/ 20 h 128"/>
              <a:gd name="T26" fmla="*/ 10 w 108"/>
              <a:gd name="T27" fmla="*/ 15 h 128"/>
              <a:gd name="T28" fmla="*/ 14 w 108"/>
              <a:gd name="T29" fmla="*/ 1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8" h="128">
                <a:moveTo>
                  <a:pt x="14" y="10"/>
                </a:moveTo>
                <a:cubicBezTo>
                  <a:pt x="14" y="10"/>
                  <a:pt x="14" y="10"/>
                  <a:pt x="14" y="10"/>
                </a:cubicBezTo>
                <a:cubicBezTo>
                  <a:pt x="15" y="10"/>
                  <a:pt x="78" y="10"/>
                  <a:pt x="108" y="10"/>
                </a:cubicBezTo>
                <a:cubicBezTo>
                  <a:pt x="108" y="0"/>
                  <a:pt x="108" y="0"/>
                  <a:pt x="108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7"/>
                  <a:pt x="0" y="15"/>
                </a:cubicBezTo>
                <a:cubicBezTo>
                  <a:pt x="0" y="16"/>
                  <a:pt x="0" y="83"/>
                  <a:pt x="0" y="113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21"/>
                  <a:pt x="7" y="128"/>
                  <a:pt x="15" y="128"/>
                </a:cubicBezTo>
                <a:cubicBezTo>
                  <a:pt x="15" y="128"/>
                  <a:pt x="82" y="128"/>
                  <a:pt x="108" y="128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2" y="19"/>
                  <a:pt x="10" y="17"/>
                  <a:pt x="10" y="15"/>
                </a:cubicBezTo>
                <a:cubicBezTo>
                  <a:pt x="10" y="12"/>
                  <a:pt x="12" y="10"/>
                  <a:pt x="14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2471583" y="5393724"/>
            <a:ext cx="1452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Giảng viên hướng dẫn: TS. Trần Minh Thái</a:t>
            </a:r>
            <a:endParaRPr lang="zh-CN" altLang="en-US" dirty="0"/>
          </a:p>
        </p:txBody>
      </p:sp>
      <p:sp>
        <p:nvSpPr>
          <p:cNvPr id="96" name="teacher-reading-a-book-sitting-behind-his-desk_42916"/>
          <p:cNvSpPr/>
          <p:nvPr/>
        </p:nvSpPr>
        <p:spPr>
          <a:xfrm>
            <a:off x="2179264" y="5452809"/>
            <a:ext cx="216000" cy="251163"/>
          </a:xfrm>
          <a:custGeom>
            <a:avLst/>
            <a:gdLst>
              <a:gd name="connsiteX0" fmla="*/ 193784 w 523934"/>
              <a:gd name="connsiteY0" fmla="*/ 190536 h 609225"/>
              <a:gd name="connsiteX1" fmla="*/ 193784 w 523934"/>
              <a:gd name="connsiteY1" fmla="*/ 227817 h 609225"/>
              <a:gd name="connsiteX2" fmla="*/ 205267 w 523934"/>
              <a:gd name="connsiteY2" fmla="*/ 227817 h 609225"/>
              <a:gd name="connsiteX3" fmla="*/ 205267 w 523934"/>
              <a:gd name="connsiteY3" fmla="*/ 273700 h 609225"/>
              <a:gd name="connsiteX4" fmla="*/ 193784 w 523934"/>
              <a:gd name="connsiteY4" fmla="*/ 273700 h 609225"/>
              <a:gd name="connsiteX5" fmla="*/ 193784 w 523934"/>
              <a:gd name="connsiteY5" fmla="*/ 283737 h 609225"/>
              <a:gd name="connsiteX6" fmla="*/ 256943 w 523934"/>
              <a:gd name="connsiteY6" fmla="*/ 295208 h 609225"/>
              <a:gd name="connsiteX7" fmla="*/ 320102 w 523934"/>
              <a:gd name="connsiteY7" fmla="*/ 283737 h 609225"/>
              <a:gd name="connsiteX8" fmla="*/ 320102 w 523934"/>
              <a:gd name="connsiteY8" fmla="*/ 273700 h 609225"/>
              <a:gd name="connsiteX9" fmla="*/ 308619 w 523934"/>
              <a:gd name="connsiteY9" fmla="*/ 273700 h 609225"/>
              <a:gd name="connsiteX10" fmla="*/ 308619 w 523934"/>
              <a:gd name="connsiteY10" fmla="*/ 227817 h 609225"/>
              <a:gd name="connsiteX11" fmla="*/ 320102 w 523934"/>
              <a:gd name="connsiteY11" fmla="*/ 227817 h 609225"/>
              <a:gd name="connsiteX12" fmla="*/ 320102 w 523934"/>
              <a:gd name="connsiteY12" fmla="*/ 190536 h 609225"/>
              <a:gd name="connsiteX13" fmla="*/ 256943 w 523934"/>
              <a:gd name="connsiteY13" fmla="*/ 202007 h 609225"/>
              <a:gd name="connsiteX14" fmla="*/ 175123 w 523934"/>
              <a:gd name="connsiteY14" fmla="*/ 167594 h 609225"/>
              <a:gd name="connsiteX15" fmla="*/ 256943 w 523934"/>
              <a:gd name="connsiteY15" fmla="*/ 181933 h 609225"/>
              <a:gd name="connsiteX16" fmla="*/ 340198 w 523934"/>
              <a:gd name="connsiteY16" fmla="*/ 167594 h 609225"/>
              <a:gd name="connsiteX17" fmla="*/ 340198 w 523934"/>
              <a:gd name="connsiteY17" fmla="*/ 184801 h 609225"/>
              <a:gd name="connsiteX18" fmla="*/ 384697 w 523934"/>
              <a:gd name="connsiteY18" fmla="*/ 190536 h 609225"/>
              <a:gd name="connsiteX19" fmla="*/ 394745 w 523934"/>
              <a:gd name="connsiteY19" fmla="*/ 227817 h 609225"/>
              <a:gd name="connsiteX20" fmla="*/ 409099 w 523934"/>
              <a:gd name="connsiteY20" fmla="*/ 273700 h 609225"/>
              <a:gd name="connsiteX21" fmla="*/ 348811 w 523934"/>
              <a:gd name="connsiteY21" fmla="*/ 273700 h 609225"/>
              <a:gd name="connsiteX22" fmla="*/ 350246 w 523934"/>
              <a:gd name="connsiteY22" fmla="*/ 308113 h 609225"/>
              <a:gd name="connsiteX23" fmla="*/ 523934 w 523934"/>
              <a:gd name="connsiteY23" fmla="*/ 308113 h 609225"/>
              <a:gd name="connsiteX24" fmla="*/ 523934 w 523934"/>
              <a:gd name="connsiteY24" fmla="*/ 376939 h 609225"/>
              <a:gd name="connsiteX25" fmla="*/ 482306 w 523934"/>
              <a:gd name="connsiteY25" fmla="*/ 376939 h 609225"/>
              <a:gd name="connsiteX26" fmla="*/ 482306 w 523934"/>
              <a:gd name="connsiteY26" fmla="*/ 609225 h 609225"/>
              <a:gd name="connsiteX27" fmla="*/ 41628 w 523934"/>
              <a:gd name="connsiteY27" fmla="*/ 609225 h 609225"/>
              <a:gd name="connsiteX28" fmla="*/ 41628 w 523934"/>
              <a:gd name="connsiteY28" fmla="*/ 376939 h 609225"/>
              <a:gd name="connsiteX29" fmla="*/ 0 w 523934"/>
              <a:gd name="connsiteY29" fmla="*/ 376939 h 609225"/>
              <a:gd name="connsiteX30" fmla="*/ 0 w 523934"/>
              <a:gd name="connsiteY30" fmla="*/ 308113 h 609225"/>
              <a:gd name="connsiteX31" fmla="*/ 170817 w 523934"/>
              <a:gd name="connsiteY31" fmla="*/ 308113 h 609225"/>
              <a:gd name="connsiteX32" fmla="*/ 170817 w 523934"/>
              <a:gd name="connsiteY32" fmla="*/ 273700 h 609225"/>
              <a:gd name="connsiteX33" fmla="*/ 99045 w 523934"/>
              <a:gd name="connsiteY33" fmla="*/ 273700 h 609225"/>
              <a:gd name="connsiteX34" fmla="*/ 104787 w 523934"/>
              <a:gd name="connsiteY34" fmla="*/ 262229 h 609225"/>
              <a:gd name="connsiteX35" fmla="*/ 103351 w 523934"/>
              <a:gd name="connsiteY35" fmla="*/ 262229 h 609225"/>
              <a:gd name="connsiteX36" fmla="*/ 139237 w 523934"/>
              <a:gd name="connsiteY36" fmla="*/ 190536 h 609225"/>
              <a:gd name="connsiteX37" fmla="*/ 175123 w 523934"/>
              <a:gd name="connsiteY37" fmla="*/ 186235 h 609225"/>
              <a:gd name="connsiteX38" fmla="*/ 261393 w 523934"/>
              <a:gd name="connsiteY38" fmla="*/ 0 h 609225"/>
              <a:gd name="connsiteX39" fmla="*/ 344616 w 523934"/>
              <a:gd name="connsiteY39" fmla="*/ 83108 h 609225"/>
              <a:gd name="connsiteX40" fmla="*/ 261393 w 523934"/>
              <a:gd name="connsiteY40" fmla="*/ 166216 h 609225"/>
              <a:gd name="connsiteX41" fmla="*/ 178170 w 523934"/>
              <a:gd name="connsiteY41" fmla="*/ 83108 h 609225"/>
              <a:gd name="connsiteX42" fmla="*/ 261393 w 523934"/>
              <a:gd name="connsiteY42" fmla="*/ 0 h 6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23934" h="609225">
                <a:moveTo>
                  <a:pt x="193784" y="190536"/>
                </a:moveTo>
                <a:lnTo>
                  <a:pt x="193784" y="227817"/>
                </a:lnTo>
                <a:lnTo>
                  <a:pt x="205267" y="227817"/>
                </a:lnTo>
                <a:lnTo>
                  <a:pt x="205267" y="273700"/>
                </a:lnTo>
                <a:lnTo>
                  <a:pt x="193784" y="273700"/>
                </a:lnTo>
                <a:lnTo>
                  <a:pt x="193784" y="283737"/>
                </a:lnTo>
                <a:lnTo>
                  <a:pt x="256943" y="295208"/>
                </a:lnTo>
                <a:lnTo>
                  <a:pt x="320102" y="283737"/>
                </a:lnTo>
                <a:lnTo>
                  <a:pt x="320102" y="273700"/>
                </a:lnTo>
                <a:lnTo>
                  <a:pt x="308619" y="273700"/>
                </a:lnTo>
                <a:lnTo>
                  <a:pt x="308619" y="227817"/>
                </a:lnTo>
                <a:lnTo>
                  <a:pt x="320102" y="227817"/>
                </a:lnTo>
                <a:lnTo>
                  <a:pt x="320102" y="190536"/>
                </a:lnTo>
                <a:lnTo>
                  <a:pt x="256943" y="202007"/>
                </a:lnTo>
                <a:close/>
                <a:moveTo>
                  <a:pt x="175123" y="167594"/>
                </a:moveTo>
                <a:lnTo>
                  <a:pt x="256943" y="181933"/>
                </a:lnTo>
                <a:lnTo>
                  <a:pt x="340198" y="167594"/>
                </a:lnTo>
                <a:lnTo>
                  <a:pt x="340198" y="184801"/>
                </a:lnTo>
                <a:lnTo>
                  <a:pt x="384697" y="190536"/>
                </a:lnTo>
                <a:lnTo>
                  <a:pt x="394745" y="227817"/>
                </a:lnTo>
                <a:lnTo>
                  <a:pt x="409099" y="273700"/>
                </a:lnTo>
                <a:lnTo>
                  <a:pt x="348811" y="273700"/>
                </a:lnTo>
                <a:lnTo>
                  <a:pt x="350246" y="308113"/>
                </a:lnTo>
                <a:lnTo>
                  <a:pt x="523934" y="308113"/>
                </a:lnTo>
                <a:lnTo>
                  <a:pt x="523934" y="376939"/>
                </a:lnTo>
                <a:lnTo>
                  <a:pt x="482306" y="376939"/>
                </a:lnTo>
                <a:lnTo>
                  <a:pt x="482306" y="609225"/>
                </a:lnTo>
                <a:lnTo>
                  <a:pt x="41628" y="609225"/>
                </a:lnTo>
                <a:lnTo>
                  <a:pt x="41628" y="376939"/>
                </a:lnTo>
                <a:lnTo>
                  <a:pt x="0" y="376939"/>
                </a:lnTo>
                <a:lnTo>
                  <a:pt x="0" y="308113"/>
                </a:lnTo>
                <a:lnTo>
                  <a:pt x="170817" y="308113"/>
                </a:lnTo>
                <a:lnTo>
                  <a:pt x="170817" y="273700"/>
                </a:lnTo>
                <a:lnTo>
                  <a:pt x="99045" y="273700"/>
                </a:lnTo>
                <a:lnTo>
                  <a:pt x="104787" y="262229"/>
                </a:lnTo>
                <a:lnTo>
                  <a:pt x="103351" y="262229"/>
                </a:lnTo>
                <a:lnTo>
                  <a:pt x="139237" y="190536"/>
                </a:lnTo>
                <a:lnTo>
                  <a:pt x="175123" y="186235"/>
                </a:lnTo>
                <a:close/>
                <a:moveTo>
                  <a:pt x="261393" y="0"/>
                </a:moveTo>
                <a:cubicBezTo>
                  <a:pt x="307356" y="0"/>
                  <a:pt x="344616" y="37209"/>
                  <a:pt x="344616" y="83108"/>
                </a:cubicBezTo>
                <a:cubicBezTo>
                  <a:pt x="344616" y="129007"/>
                  <a:pt x="307356" y="166216"/>
                  <a:pt x="261393" y="166216"/>
                </a:cubicBezTo>
                <a:cubicBezTo>
                  <a:pt x="215430" y="166216"/>
                  <a:pt x="178170" y="129007"/>
                  <a:pt x="178170" y="83108"/>
                </a:cubicBezTo>
                <a:cubicBezTo>
                  <a:pt x="178170" y="37209"/>
                  <a:pt x="215430" y="0"/>
                  <a:pt x="26139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ns2:useLocalDpi val="0"/>
              </a:ext>
            </a:extLst>
          </a:blip>
          <a:stretch>
            <a:fillRect/>
          </a:stretch>
        </p:blipFill>
        <p:spPr>
          <a:xfrm>
            <a:off x="5051215" y="0"/>
            <a:ext cx="2089569" cy="208956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"/>
            <a:ext cx="2698230" cy="6858000"/>
          </a:xfrm>
          <a:prstGeom prst="rect">
            <a:avLst/>
          </a:prstGeom>
          <a:extLst>
            <a:ext uri="{909E8E84-426E-40DD-AFC4-6F175D3DCCD1}">
              <ns2:hiddenFill>
                <a:solidFill>
                  <a:schemeClr val="accent1"/>
                </a:solidFill>
              </ns2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/>
          <p:cNvGrpSpPr/>
          <p:nvPr/>
        </p:nvGrpSpPr>
        <p:grpSpPr>
          <a:xfrm>
            <a:off x="5098064" y="654662"/>
            <a:ext cx="4491422" cy="1015663"/>
            <a:chOff x="4859940" y="886890"/>
            <a:chExt cx="4491422" cy="1015663"/>
          </a:xfrm>
        </p:grpSpPr>
        <p:sp>
          <p:nvSpPr>
            <p:cNvPr id="78" name="文本框 77"/>
            <p:cNvSpPr txBox="1"/>
            <p:nvPr/>
          </p:nvSpPr>
          <p:spPr>
            <a:xfrm>
              <a:off x="4859940" y="886890"/>
              <a:ext cx="449142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0" b="1" dirty="0">
                  <a:solidFill>
                    <a:schemeClr val="accent1">
                      <a:lumMod val="20000"/>
                      <a:lumOff val="80000"/>
                      <a:alpha val="20000"/>
                    </a:schemeClr>
                  </a:solidFill>
                </a:rPr>
                <a:t>NỘI DUNG BÁO CÁO</a:t>
              </a:r>
              <a:endParaRPr lang="zh-CN" altLang="en-US" sz="6000" b="1" dirty="0">
                <a:solidFill>
                  <a:schemeClr val="accent1">
                    <a:lumMod val="20000"/>
                    <a:lumOff val="80000"/>
                    <a:alpha val="20000"/>
                  </a:schemeClr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243876" y="933056"/>
              <a:ext cx="17235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5400" b="1" spc="600" dirty="0">
                  <a:solidFill>
                    <a:schemeClr val="accent1"/>
                  </a:solidFill>
                </a:rPr>
                <a:t>MỤC LỤC TIẾN ĐỘ ĐỒ ÁN</a:t>
              </a:r>
              <a:endParaRPr lang="zh-CN" altLang="en-US" sz="5400" b="1" spc="6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6132820" y="1882343"/>
            <a:ext cx="880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</a:rPr>
              <a:t>01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386921" y="203623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Đặt vấn đề &amp; Mục tiêu giải quyết xuất khống HĐĐT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ns2:useLocalDpi val="0"/>
              </a:ext>
            </a:extLst>
          </a:blip>
          <a:stretch>
            <a:fillRect/>
          </a:stretch>
        </p:blipFill>
        <p:spPr>
          <a:xfrm>
            <a:off x="304330" y="2384215"/>
            <a:ext cx="2089569" cy="208956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32820" y="2651784"/>
            <a:ext cx="880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</a:rPr>
              <a:t>02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86921" y="28056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Tiến độ thực hiện Báo cáo Đồ án (5 Chương chuẩn HUFLIT)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32820" y="3421225"/>
            <a:ext cx="880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</a:rPr>
              <a:t>03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86921" y="357511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Tự đánh giá Báo cáo Đồ án (Barem, hình thức &amp; hạn chế)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32820" y="4190666"/>
            <a:ext cx="880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</a:rPr>
              <a:t>04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86921" y="434455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Tiến độ Demo: Kiến trúc 3 tầng, Smart Contract &amp; Kết quả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32820" y="4960107"/>
            <a:ext cx="880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</a:rPr>
              <a:t>05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86921" y="511399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Phân công công việc &amp; Kế hoạch giai đoạn tiếp theo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36072" y="250187"/>
            <a:ext cx="7423123" cy="371145"/>
            <a:chOff x="136072" y="250187"/>
            <a:chExt cx="7423123" cy="371145"/>
          </a:xfrm>
        </p:grpSpPr>
        <p:sp>
          <p:nvSpPr>
            <p:cNvPr id="42" name="文本框 41"/>
            <p:cNvSpPr txBox="1"/>
            <p:nvPr/>
          </p:nvSpPr>
          <p:spPr>
            <a:xfrm>
              <a:off x="136072" y="250187"/>
              <a:ext cx="1107996" cy="369332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01. Đặt vấn đề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713434" y="25018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02. Tiến độ báo cáo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290798" y="25018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03. Kiến trúc Demo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478751" y="297875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3056113" y="297875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/>
            <p:cNvSpPr txBox="1"/>
            <p:nvPr/>
          </p:nvSpPr>
          <p:spPr>
            <a:xfrm>
              <a:off x="4874005" y="25200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04. Kết quả thực nghiệm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4633200" y="298800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210000" y="298800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6451199" y="25200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05. Phân công &amp; Kết luận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49275" y="1959610"/>
            <a:ext cx="5372735" cy="177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</p:txBody>
      </p:sp>
      <p:sp>
        <p:nvSpPr>
          <p:cNvPr id="29" name="矩形: 圆角 28"/>
          <p:cNvSpPr/>
          <p:nvPr/>
        </p:nvSpPr>
        <p:spPr>
          <a:xfrm>
            <a:off x="398780" y="1936115"/>
            <a:ext cx="5522595" cy="2214245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28"/>
          <p:cNvSpPr/>
          <p:nvPr/>
        </p:nvSpPr>
        <p:spPr>
          <a:xfrm>
            <a:off x="398780" y="4485005"/>
            <a:ext cx="5522595" cy="1450340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Header"/>
          <p:cNvSpPr/>
          <p:nvPr/>
        </p:nvSpPr>
        <p:spPr>
          <a:xfrm>
            <a:off x="548640" y="868680"/>
            <a:ext cx="11091672" cy="502920"/>
          </a:xfrm>
          <a:prstGeom prst="roundRect">
            <a:avLst/>
          </a:prstGeom>
          <a:noFill/>
          <a:ln>
            <a:noFill/>
          </a:ln>
        </p:spPr>
        <p:txBody>
          <a:bodyPr rtlCol="0" anchor="t" lIns="144000" tIns="144000" rIns="144000" bIns="144000"/>
          <a:lstStyle/>
          <a:p>
            <a:pPr algn="l">
              <a:buNone/>
            </a:pPr>
            <a:r>
              <a:rPr lang="vi-VN" altLang="en-US" sz="1800" b="1" i="0">
                <a:solidFill>
                  <a:srgbClr val="1E3A8A"/>
                </a:solidFill>
                <a:latin typeface="Arial"/>
              </a:rPr>
              <a:t>1. ĐẶT VẤN ĐỀ &amp; MỤC TIÊU GIẢI QUYẾT XUẤT KHỐNG HÓA ĐƠN</a:t>
            </a:r>
            <a:endParaRPr lang="vi-VN" altLang="en-US"/>
          </a:p>
        </p:txBody>
      </p:sp>
      <p:sp>
        <p:nvSpPr>
          <p:cNvPr id="301" name="CardThucTrang"/>
          <p:cNvSpPr/>
          <p:nvPr/>
        </p:nvSpPr>
        <p:spPr>
          <a:xfrm>
            <a:off x="548640" y="1508760"/>
            <a:ext cx="5394960" cy="466344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FECACA"/>
            </a:solidFill>
          </a:ln>
        </p:spPr>
        <p:txBody>
          <a:bodyPr rtlCol="0" anchor="t" lIns="144000" tIns="144000" rIns="144000" bIns="144000"/>
          <a:lstStyle/>
          <a:p>
            <a:pPr algn="l">
              <a:buNone/>
              <a:spcAft>
                <a:spcPts val="600"/>
              </a:spcAft>
            </a:pPr>
            <a:r>
              <a:rPr lang="vi-VN" altLang="en-US" sz="1300" b="1" i="0">
                <a:solidFill>
                  <a:srgbClr val="DC2626"/>
                </a:solidFill>
                <a:latin typeface="Arial"/>
              </a:rPr>
              <a:t>THỰC TRẠNG GIAN LẬN HĐĐT TRUYỀN THỐNG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Doanh nghiệp 'ma' (vỏ bọc): Được thành lập hàng loạt không có hoạt động sản xuất thật, xuất khống hóa đơn GTGT để trục lợi tiền hoàn thuế từ ngân sách nhà nước.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Lỗ hổng CSDL tập trung: Tiềm ẩn nguy cơ bị can thiệp dữ liệu nội bộ, chỉnh sửa số tiền hoặc trạng thái hóa đơn sau khi đã phát hành.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Kê khai trùng lặp: Một hóa đơn bị mang đi thanh toán hoặc khấu trừ thuế nhiều lần tại các tổ chức tín dụng và cơ quan thuế khác nhau.</a:t>
            </a:r>
            <a:endParaRPr lang="vi-VN" altLang="en-US"/>
          </a:p>
          <a:p>
            <a:pPr algn="l">
              <a:buChar char="•"/>
              <a:buFont typeface="Arial"/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Khó khăn trong đối soát: Cơ quan thuế mất nhiều tháng đối soát định kỳ mới phát hiện sai phạm, thất thu lớn cho ngân sách.</a:t>
            </a:r>
            <a:endParaRPr lang="vi-VN" altLang="en-US"/>
          </a:p>
        </p:txBody>
      </p:sp>
      <p:sp>
        <p:nvSpPr>
          <p:cNvPr id="302" name="CardGiaiPhap"/>
          <p:cNvSpPr/>
          <p:nvPr/>
        </p:nvSpPr>
        <p:spPr>
          <a:xfrm>
            <a:off x="6245352" y="1508760"/>
            <a:ext cx="539496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txBody>
          <a:bodyPr rtlCol="0" anchor="t" lIns="144000" tIns="144000" rIns="144000" bIns="144000"/>
          <a:lstStyle/>
          <a:p>
            <a:pPr algn="l">
              <a:buNone/>
              <a:spcAft>
                <a:spcPts val="600"/>
              </a:spcAft>
            </a:pPr>
            <a:r>
              <a:rPr lang="vi-VN" altLang="en-US" sz="1300" b="1" i="0">
                <a:solidFill>
                  <a:srgbClr val="059669"/>
                </a:solidFill>
                <a:latin typeface="Arial"/>
              </a:rPr>
              <a:t>MỤC TIÊU GIẢI PHÁP BLOCKCHAIN &amp; SMART CONTRACT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Tính bất biến (Immutability): Mọi thông tin hóa đơn một khi đã đóng gói vào khối (Block) thì không thể bị sửa đổi hay xóa bỏ bởi bất kỳ ai.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Chặn đứng trùng lặp on-chain: Smart Contract tự động Revert giao dịch ngay lập tức nếu mã hóa đơn đã tồn tại trong mapping của hệ thống.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Minh bạch và đối soát công khai: Cho phép Cơ quan Thuế, Doanh nghiệp Bán và Khách hàng Mua cùng đối soát chéo độc lập 24/7.</a:t>
            </a:r>
            <a:endParaRPr lang="vi-VN" altLang="en-US"/>
          </a:p>
          <a:p>
            <a:pPr algn="l">
              <a:buChar char="•"/>
              <a:buFont typeface="Arial"/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Truy vết thời gian thực: Lưu vết chính xác Timestamp khối và địa chỉ ví phát hành, phục vụ thanh tra thuế tức thời.</a:t>
            </a:r>
            <a:endParaRPr lang="vi-V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36072" y="250187"/>
            <a:ext cx="7423123" cy="371145"/>
            <a:chOff x="136072" y="250187"/>
            <a:chExt cx="7423123" cy="371145"/>
          </a:xfrm>
        </p:grpSpPr>
        <p:sp>
          <p:nvSpPr>
            <p:cNvPr id="42" name="文本框 41"/>
            <p:cNvSpPr txBox="1"/>
            <p:nvPr/>
          </p:nvSpPr>
          <p:spPr>
            <a:xfrm>
              <a:off x="136072" y="250187"/>
              <a:ext cx="1107996" cy="369332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01. Đặt vấn đề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713434" y="25018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02. Tiến độ báo cáo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290798" y="25018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03. Kiến trúc Demo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478751" y="297875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3056113" y="297875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/>
            <p:cNvSpPr txBox="1"/>
            <p:nvPr/>
          </p:nvSpPr>
          <p:spPr>
            <a:xfrm>
              <a:off x="4874005" y="25200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04. Kết quả thực nghiệm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4633200" y="298800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210000" y="298800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6451199" y="25200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05. Phân công &amp; Kết luận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8580" y="4742815"/>
            <a:ext cx="3520440" cy="412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6" name="矩形: 圆角 4"/>
          <p:cNvSpPr/>
          <p:nvPr/>
        </p:nvSpPr>
        <p:spPr>
          <a:xfrm>
            <a:off x="1023620" y="1965325"/>
            <a:ext cx="2847975" cy="3703955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4"/>
          <p:cNvSpPr/>
          <p:nvPr/>
        </p:nvSpPr>
        <p:spPr>
          <a:xfrm>
            <a:off x="4591050" y="1965325"/>
            <a:ext cx="2847975" cy="3704590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4"/>
          <p:cNvSpPr/>
          <p:nvPr/>
        </p:nvSpPr>
        <p:spPr>
          <a:xfrm>
            <a:off x="8158480" y="1965325"/>
            <a:ext cx="2847975" cy="3704590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0" name="Header"/>
          <p:cNvSpPr/>
          <p:nvPr/>
        </p:nvSpPr>
        <p:spPr>
          <a:xfrm>
            <a:off x="548640" y="868680"/>
            <a:ext cx="11091672" cy="502920"/>
          </a:xfrm>
          <a:prstGeom prst="roundRect">
            <a:avLst/>
          </a:prstGeom>
          <a:noFill/>
          <a:ln>
            <a:noFill/>
          </a:ln>
        </p:spPr>
        <p:txBody>
          <a:bodyPr rtlCol="0" anchor="t" lIns="144000" tIns="144000" rIns="144000" bIns="144000"/>
          <a:lstStyle/>
          <a:p>
            <a:pPr algn="l">
              <a:buNone/>
            </a:pPr>
            <a:r>
              <a:rPr lang="vi-VN" altLang="en-US" sz="1800" b="1" i="0">
                <a:solidFill>
                  <a:srgbClr val="1E3A8A"/>
                </a:solidFill>
                <a:latin typeface="Arial"/>
              </a:rPr>
              <a:t>2. TIẾN ĐỘ THỰC HIỆN BÁO CÁO ĐỒ ÁN (5 CHƯƠNG CHUẨN KHOA CNTT)</a:t>
            </a:r>
            <a:endParaRPr lang="vi-VN" altLang="en-US"/>
          </a:p>
        </p:txBody>
      </p:sp>
      <p:sp>
        <p:nvSpPr>
          <p:cNvPr id="401" name="Col1"/>
          <p:cNvSpPr/>
          <p:nvPr/>
        </p:nvSpPr>
        <p:spPr>
          <a:xfrm>
            <a:off x="548640" y="1508760"/>
            <a:ext cx="34747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rtlCol="0" anchor="t" lIns="144000" tIns="144000" rIns="144000" bIns="144000"/>
          <a:lstStyle/>
          <a:p>
            <a:pPr algn="l">
              <a:buNone/>
              <a:spcAft>
                <a:spcPts val="600"/>
              </a:spcAft>
            </a:pPr>
            <a:r>
              <a:rPr lang="vi-VN" altLang="en-US" sz="1200" b="1" i="0">
                <a:solidFill>
                  <a:srgbClr val="1E3A8A"/>
                </a:solidFill>
                <a:latin typeface="Arial"/>
              </a:rPr>
              <a:t>CHƯƠNG 1 &amp; 2: CƠ SỞ LÝ THUYẾT</a:t>
            </a:r>
            <a:endParaRPr lang="vi-VN" altLang="en-US"/>
          </a:p>
          <a:p>
            <a:pPr algn="l">
              <a:buNone/>
              <a:spcAft>
                <a:spcPts val="600"/>
              </a:spcAft>
            </a:pPr>
            <a:r>
              <a:rPr lang="vi-VN" altLang="en-US" sz="1100" b="1" i="0">
                <a:solidFill>
                  <a:srgbClr val="059669"/>
                </a:solidFill>
                <a:latin typeface="Arial"/>
              </a:rPr>
              <a:t>Trạng thái: 100% Hoàn thành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4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Nghiên cứu quy định pháp lý: NĐ 123/2020/NĐ-CP &amp; TT 78/2021/TT-BTC về HĐĐT.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4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Phân tích nền tảng Blockchain EVM, cơ chế đồng thuận PoS, hàm băm SHA-256.</a:t>
            </a:r>
            <a:endParaRPr lang="vi-VN" altLang="en-US"/>
          </a:p>
          <a:p>
            <a:pPr algn="l">
              <a:buChar char="•"/>
              <a:buFont typeface="Arial"/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Xây dựng Bảng 2.1 đối chiếu toàn diện giữa CSDL tập trung và Blockchain.</a:t>
            </a:r>
            <a:endParaRPr lang="vi-VN" altLang="en-US"/>
          </a:p>
        </p:txBody>
      </p:sp>
      <p:sp>
        <p:nvSpPr>
          <p:cNvPr id="402" name="Col2"/>
          <p:cNvSpPr/>
          <p:nvPr/>
        </p:nvSpPr>
        <p:spPr>
          <a:xfrm>
            <a:off x="4352544" y="1508760"/>
            <a:ext cx="34747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rtlCol="0" anchor="t" lIns="144000" tIns="144000" rIns="144000" bIns="144000"/>
          <a:lstStyle/>
          <a:p>
            <a:pPr algn="l">
              <a:buNone/>
              <a:spcAft>
                <a:spcPts val="600"/>
              </a:spcAft>
            </a:pPr>
            <a:r>
              <a:rPr lang="vi-VN" altLang="en-US" sz="1200" b="1" i="0">
                <a:solidFill>
                  <a:srgbClr val="1E3A8A"/>
                </a:solidFill>
                <a:latin typeface="Arial"/>
              </a:rPr>
              <a:t>CHƯƠNG 3: PHÂN TÍCH &amp; THIẾT KẾ</a:t>
            </a:r>
            <a:endParaRPr lang="vi-VN" altLang="en-US"/>
          </a:p>
          <a:p>
            <a:pPr algn="l">
              <a:buNone/>
              <a:spcAft>
                <a:spcPts val="600"/>
              </a:spcAft>
            </a:pPr>
            <a:r>
              <a:rPr lang="vi-VN" altLang="en-US" sz="1100" b="1" i="0">
                <a:solidFill>
                  <a:srgbClr val="059669"/>
                </a:solidFill>
                <a:latin typeface="Arial"/>
              </a:rPr>
              <a:t>Trạng thái: 100% Hoàn thành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4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Đặc tả yêu cầu chức năng (FR) và yêu cầu phi chức năng (NFR).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4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Vẽ Sơ đồ Kiến trúc 3 tầng (Client ERP -&gt; Web3 Middleware -&gt; Sepolia).</a:t>
            </a:r>
            <a:endParaRPr lang="vi-VN" altLang="en-US"/>
          </a:p>
          <a:p>
            <a:pPr algn="l">
              <a:buChar char="•"/>
              <a:buFont typeface="Arial"/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Vẽ Sơ đồ tuần tự quy trình phát hành và thiết kế struct HoaDon tối ưu Gas.</a:t>
            </a:r>
            <a:endParaRPr lang="vi-VN" altLang="en-US"/>
          </a:p>
        </p:txBody>
      </p:sp>
      <p:sp>
        <p:nvSpPr>
          <p:cNvPr id="403" name="Col3"/>
          <p:cNvSpPr/>
          <p:nvPr/>
        </p:nvSpPr>
        <p:spPr>
          <a:xfrm>
            <a:off x="8165592" y="1508760"/>
            <a:ext cx="34747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rtlCol="0" anchor="t" lIns="144000" tIns="144000" rIns="144000" bIns="144000"/>
          <a:lstStyle/>
          <a:p>
            <a:pPr algn="l">
              <a:buNone/>
              <a:spcAft>
                <a:spcPts val="600"/>
              </a:spcAft>
            </a:pPr>
            <a:r>
              <a:rPr lang="vi-VN" altLang="en-US" sz="1200" b="1" i="0">
                <a:solidFill>
                  <a:srgbClr val="1E3A8A"/>
                </a:solidFill>
                <a:latin typeface="Arial"/>
              </a:rPr>
              <a:t>CHƯƠNG 4 &amp; 5: CÀI ĐẶT &amp; KẾT LUẬN</a:t>
            </a:r>
            <a:endParaRPr lang="vi-VN" altLang="en-US"/>
          </a:p>
          <a:p>
            <a:pPr algn="l">
              <a:buNone/>
              <a:spcAft>
                <a:spcPts val="600"/>
              </a:spcAft>
            </a:pPr>
            <a:r>
              <a:rPr lang="vi-VN" altLang="en-US" sz="1100" b="1" i="0">
                <a:solidFill>
                  <a:srgbClr val="059669"/>
                </a:solidFill>
                <a:latin typeface="Arial"/>
              </a:rPr>
              <a:t>Trạng thái: 100% Hoàn thành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4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Lập trình Smart Contract Solidity (^0.8.20) và kịch bản Web3.py.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4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Kiểm thử 5 HĐ hợp lệ + 1 HĐ trùng mã bị Revert chặn đứng gian lận.</a:t>
            </a:r>
            <a:endParaRPr lang="vi-VN" altLang="en-US"/>
          </a:p>
          <a:p>
            <a:pPr algn="l">
              <a:buChar char="•"/>
              <a:buFont typeface="Arial"/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Đánh giá kết quả đạt được, chỉ ra hạn chế và đề xuất mở rộng zk-Rollups / IPFS.</a:t>
            </a:r>
            <a:endParaRPr lang="vi-V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36072" y="2501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01. Đặt vấn đề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13434" y="250187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02. Tiến độ báo cáo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90798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03. Kiến trúc Demo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78751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056113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874005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04. Kết quả thực nghiệm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332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2100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451199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05. Phân công &amp; Kết luận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00" name="Header"/>
          <p:cNvSpPr/>
          <p:nvPr/>
        </p:nvSpPr>
        <p:spPr>
          <a:xfrm>
            <a:off x="548640" y="868680"/>
            <a:ext cx="11091672" cy="502920"/>
          </a:xfrm>
          <a:prstGeom prst="roundRect">
            <a:avLst/>
          </a:prstGeom>
          <a:noFill/>
          <a:ln>
            <a:noFill/>
          </a:ln>
        </p:spPr>
        <p:txBody>
          <a:bodyPr rtlCol="0" anchor="t" lIns="144000" tIns="144000" rIns="144000" bIns="144000"/>
          <a:lstStyle/>
          <a:p>
            <a:pPr algn="l">
              <a:buNone/>
            </a:pPr>
            <a:r>
              <a:rPr lang="vi-VN" altLang="en-US" sz="1800" b="1" i="0">
                <a:solidFill>
                  <a:srgbClr val="1E3A8A"/>
                </a:solidFill>
                <a:latin typeface="Arial"/>
              </a:rPr>
              <a:t>3. TỰ ĐÁNH GIÁ BÁO CÁO ĐỒ ÁN THEO QUY ĐỊNH KHOA CNTT - HUFLIT</a:t>
            </a:r>
            <a:endParaRPr lang="vi-VN" altLang="en-US"/>
          </a:p>
        </p:txBody>
      </p:sp>
      <p:sp>
        <p:nvSpPr>
          <p:cNvPr id="501" name="CardHinhThuc"/>
          <p:cNvSpPr/>
          <p:nvPr/>
        </p:nvSpPr>
        <p:spPr>
          <a:xfrm>
            <a:off x="548640" y="1508760"/>
            <a:ext cx="539496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txBody>
          <a:bodyPr rtlCol="0" anchor="t" lIns="144000" tIns="144000" rIns="144000" bIns="144000"/>
          <a:lstStyle/>
          <a:p>
            <a:pPr algn="l">
              <a:buNone/>
              <a:spcAft>
                <a:spcPts val="600"/>
              </a:spcAft>
            </a:pPr>
            <a:r>
              <a:rPr lang="vi-VN" altLang="en-US" sz="1300" b="1" i="0">
                <a:solidFill>
                  <a:srgbClr val="059669"/>
                </a:solidFill>
                <a:latin typeface="Arial"/>
              </a:rPr>
              <a:t>TIÊU CHÍ HÌNH THỨC &amp; BAREM ĐẠT ĐƯỢC (100%)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Font chữ &amp; Giãn cách: Tuyệt đối tuân thủ Times New Roman 13pt, giãn dòng 1.5 line, căn đều 2 lề (Justify), thụt đầu dòng 0.5 inch.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Mục lục tự động: Giữ nguyên vẹn 100% cấu trúc TOC mẫu của Khoa, phân trang số la mã (i, ii, iii) và số arabic (1, 2, 3...) chuẩn xác.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Danh mục Bảng &amp; Hình: Cập nhật đầy đủ Bảng 2.1, 4.1 và 4 hình ảnh minh họa chất lượng cao kèm caption chuẩn.</a:t>
            </a:r>
            <a:endParaRPr lang="vi-VN" altLang="en-US"/>
          </a:p>
          <a:p>
            <a:pPr algn="l">
              <a:buChar char="•"/>
              <a:buFont typeface="Arial"/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Tài liệu tham khảo: Trích dẫn theo quy chuẩn IEEE từ [1] đến [7] từ các nguồn uy tín.</a:t>
            </a:r>
            <a:endParaRPr lang="vi-VN" altLang="en-US"/>
          </a:p>
        </p:txBody>
      </p:sp>
      <p:sp>
        <p:nvSpPr>
          <p:cNvPr id="502" name="CardHanChe"/>
          <p:cNvSpPr/>
          <p:nvPr/>
        </p:nvSpPr>
        <p:spPr>
          <a:xfrm>
            <a:off x="6245352" y="1508760"/>
            <a:ext cx="5394960" cy="46634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txBody>
          <a:bodyPr rtlCol="0" anchor="t" lIns="144000" tIns="144000" rIns="144000" bIns="144000"/>
          <a:lstStyle/>
          <a:p>
            <a:pPr algn="l">
              <a:buNone/>
              <a:spcAft>
                <a:spcPts val="600"/>
              </a:spcAft>
            </a:pPr>
            <a:r>
              <a:rPr lang="vi-VN" altLang="en-US" sz="1300" b="1" i="0">
                <a:solidFill>
                  <a:srgbClr val="D97706"/>
                </a:solidFill>
                <a:latin typeface="Arial"/>
              </a:rPr>
              <a:t>HẠN CHẾ VÀ HƯỚNG KHẮC PHỤC KỲ TỚI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4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Hạn chế 1 (Chữ ký số): Chưa tích hợp phần cứng ký số USB Token / HSM chuyên dụng của các tổ chức CA ngoài thực tế.</a:t>
            </a:r>
            <a:endParaRPr lang="vi-VN" altLang="en-US"/>
          </a:p>
          <a:p>
            <a:pPr algn="l">
              <a:buNone/>
              <a:spcAft>
                <a:spcPts val="600"/>
              </a:spcAft>
            </a:pPr>
            <a:r>
              <a:rPr lang="vi-VN" altLang="en-US" sz="1000" b="0" i="1">
                <a:solidFill>
                  <a:srgbClr val="475569"/>
                </a:solidFill>
                <a:latin typeface="Arial"/>
              </a:rPr>
              <a:t>-&gt; Hướng khắc phục: Nghiên cứu chuẩn DID (Decentralized Identifier) và giải pháp xác thực chữ ký ECDSA trong Smart Contract.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400"/>
              </a:spcAft>
            </a:pPr>
            <a:r>
              <a:rPr lang="vi-VN" altLang="en-US" sz="1100" b="0" i="0">
                <a:solidFill>
                  <a:srgbClr val="0F172A"/>
                </a:solidFill>
                <a:latin typeface="Arial"/>
              </a:rPr>
              <a:t>Hạn chế 2 (Chi phí Gas lưu trữ): Hiện tại chỉ lưu thông tin tổng quan, chưa lưu trữ toàn bộ chi tiết hàng trăm dòng sản phẩm on-chain.</a:t>
            </a:r>
            <a:endParaRPr lang="vi-VN" altLang="en-US"/>
          </a:p>
          <a:p>
            <a:pPr algn="l">
              <a:buNone/>
            </a:pPr>
            <a:r>
              <a:rPr lang="vi-VN" altLang="en-US" sz="1000" b="0" i="1">
                <a:solidFill>
                  <a:srgbClr val="475569"/>
                </a:solidFill>
                <a:latin typeface="Arial"/>
              </a:rPr>
              <a:t>-&gt; Hướng khắc phục: Ứng dụng giải pháp băm Keccak-256 tệp XML gốc và lưu trữ phân tán IPFS, giảm 80% chi phí Gas.</a:t>
            </a:r>
            <a:endParaRPr lang="vi-V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36072" y="2501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01. Đặt vấn đề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13434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02. Tiến độ báo cáo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90798" y="250187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03. Kiến trúc Demo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78751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56113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874005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04. Kết quả thực nghiệm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6332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2100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451199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05. Phân công &amp; Kết luận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00" name="Header"/>
          <p:cNvSpPr/>
          <p:nvPr/>
        </p:nvSpPr>
        <p:spPr>
          <a:xfrm>
            <a:off x="548640" y="868680"/>
            <a:ext cx="11091672" cy="502920"/>
          </a:xfrm>
          <a:prstGeom prst="roundRect">
            <a:avLst/>
          </a:prstGeom>
          <a:noFill/>
          <a:ln>
            <a:noFill/>
          </a:ln>
        </p:spPr>
        <p:txBody>
          <a:bodyPr rtlCol="0" anchor="t" lIns="144000" tIns="144000" rIns="144000" bIns="144000"/>
          <a:lstStyle/>
          <a:p>
            <a:pPr algn="l">
              <a:buNone/>
            </a:pPr>
            <a:r>
              <a:rPr lang="vi-VN" altLang="en-US" sz="1800" b="1" i="0">
                <a:solidFill>
                  <a:srgbClr val="1E3A8A"/>
                </a:solidFill>
                <a:latin typeface="Arial"/>
              </a:rPr>
              <a:t>4. TIẾN ĐỘ DEMO — SƠ ĐỒ KIẾN TRÚC HỆ THỐNG 3 TẦNG</a:t>
            </a:r>
            <a:endParaRPr lang="vi-VN" altLang="en-US"/>
          </a:p>
        </p:txBody>
      </p:sp>
      <p:sp>
        <p:nvSpPr>
          <p:cNvPr id="601" name="CardDesc"/>
          <p:cNvSpPr/>
          <p:nvPr/>
        </p:nvSpPr>
        <p:spPr>
          <a:xfrm>
            <a:off x="548640" y="1508760"/>
            <a:ext cx="43891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rtlCol="0" anchor="t" lIns="144000" tIns="144000" rIns="144000" bIns="144000"/>
          <a:lstStyle/>
          <a:p>
            <a:pPr algn="l">
              <a:buNone/>
              <a:spcAft>
                <a:spcPts val="600"/>
              </a:spcAft>
            </a:pPr>
            <a:r>
              <a:rPr lang="vi-VN" altLang="en-US" sz="1300" b="1" i="0">
                <a:solidFill>
                  <a:srgbClr val="1E3A8A"/>
                </a:solidFill>
                <a:latin typeface="Arial"/>
              </a:rPr>
              <a:t>KIẾN TRÚC 3 TẦNG CỐT LÕI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600"/>
              </a:spcAft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Tầng 1 - Giao diện &amp; Nghiệp vụ (Client/ERP): Ứng dụng doanh nghiệp nhập liệu, sinh mã HĐ và tạo giao dịch phát hành.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600"/>
              </a:spcAft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Tầng 2 - Tầng kết nối Middleware (Web3.py): Đóng gói dữ liệu JSON-RPC, ký chữ ký số bằng Private Key và phát tán lên mạng lưới.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800"/>
              </a:spcAft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Tầng 3 - Sổ cái Blockchain (Ethereum Sepolia): Thực thi Smart Contract HoaDonDienTu.sol, xác thực chống gian lận và phát sự kiện.</a:t>
            </a:r>
            <a:endParaRPr lang="vi-VN" altLang="en-US"/>
          </a:p>
          <a:p>
            <a:pPr algn="l">
              <a:buNone/>
            </a:pPr>
            <a:r>
              <a:rPr lang="vi-VN" altLang="en-US" sz="1000" b="1" i="0">
                <a:solidFill>
                  <a:srgbClr val="059669"/>
                </a:solidFill>
                <a:latin typeface="Arial"/>
              </a:rPr>
              <a:t>-&gt; Đảm bảo tính phân tán, độc lập và bảo mật cao.</a:t>
            </a:r>
            <a:endParaRPr lang="vi-VN" altLang="en-US"/>
          </a:p>
        </p:txBody>
      </p:sp>
      <p:pic>
        <p:nvPicPr>
          <p:cNvPr id="602" name="PicArch"/>
          <p:cNvPicPr>
            <a:picLocks noChangeAspect="1"/>
          </p:cNvPicPr>
          <p:nvPr/>
        </p:nvPicPr>
        <p:blipFill>
          <a:blip r:embed="rIdImg31"/>
          <a:stretch>
            <a:fillRect/>
          </a:stretch>
        </p:blipFill>
        <p:spPr>
          <a:xfrm>
            <a:off x="5120640" y="1508760"/>
            <a:ext cx="6519672" cy="466344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36072" y="2501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01. Đặt vấn đề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13434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02. Tiến độ báo cáo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90798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03. Kiến trúc Demo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78751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56113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874005" y="252000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04. Kết quả thực nghiệm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6332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2100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451199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05. Phân công &amp; Kết luận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00" name="Header"/>
          <p:cNvSpPr/>
          <p:nvPr/>
        </p:nvSpPr>
        <p:spPr>
          <a:xfrm>
            <a:off x="548640" y="868680"/>
            <a:ext cx="11091672" cy="502920"/>
          </a:xfrm>
          <a:prstGeom prst="roundRect">
            <a:avLst/>
          </a:prstGeom>
          <a:noFill/>
          <a:ln>
            <a:noFill/>
          </a:ln>
        </p:spPr>
        <p:txBody>
          <a:bodyPr rtlCol="0" anchor="t" lIns="144000" tIns="144000" rIns="144000" bIns="144000"/>
          <a:lstStyle/>
          <a:p>
            <a:pPr algn="l">
              <a:buNone/>
            </a:pPr>
            <a:r>
              <a:rPr lang="vi-VN" altLang="en-US" sz="1800" b="1" i="0">
                <a:solidFill>
                  <a:srgbClr val="1E3A8A"/>
                </a:solidFill>
                <a:latin typeface="Arial"/>
              </a:rPr>
              <a:t>5. TIẾN ĐỘ DEMO — QUY TRÌNH TUẦN TỰ &amp; SOLIDITY LOGIC</a:t>
            </a:r>
            <a:endParaRPr lang="vi-VN" altLang="en-US"/>
          </a:p>
        </p:txBody>
      </p:sp>
      <p:sp>
        <p:nvSpPr>
          <p:cNvPr id="701" name="CardSolidity"/>
          <p:cNvSpPr/>
          <p:nvPr/>
        </p:nvSpPr>
        <p:spPr>
          <a:xfrm>
            <a:off x="548640" y="1508760"/>
            <a:ext cx="43891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rtlCol="0" anchor="t" lIns="144000" tIns="144000" rIns="144000" bIns="144000"/>
          <a:lstStyle/>
          <a:p>
            <a:pPr algn="l">
              <a:buNone/>
              <a:spcAft>
                <a:spcPts val="600"/>
              </a:spcAft>
            </a:pPr>
            <a:r>
              <a:rPr lang="vi-VN" altLang="en-US" sz="1300" b="1" i="0">
                <a:solidFill>
                  <a:srgbClr val="1E3A8A"/>
                </a:solidFill>
                <a:latin typeface="Arial"/>
              </a:rPr>
              <a:t>THIẾT KẾ SMART CONTRACT SOLIDITY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Trình biên dịch: Solidity pragma ^0.8.20 (tích hợp sẵn kiểm tra chống tràn số).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Cấu trúc dữ liệu: struct HoaDon (maHoaDon, nguoiBan, nguoiMua, giaTri, thoiGianPhatHanh).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Cơ chế kiểm soát: mapping(string =&gt; bool) daTonTai giúp tra cứu trùng lặp tức thời O(1).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500"/>
              </a:spcAft>
            </a:pPr>
            <a:r>
              <a:rPr lang="vi-VN" altLang="en-US" sz="1050" b="1" i="0">
                <a:solidFill>
                  <a:srgbClr val="DC2626"/>
                </a:solidFill>
                <a:latin typeface="Arial"/>
              </a:rPr>
              <a:t>Chặn gian lận: require(!daTonTai[_maHD], 'Loi: Ma hoa don da ton tai!');</a:t>
            </a:r>
            <a:endParaRPr lang="vi-VN" altLang="en-US"/>
          </a:p>
          <a:p>
            <a:pPr algn="l">
              <a:buChar char="•"/>
              <a:buFont typeface="Arial"/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Sự kiện on-chain: emit HoaDonPhatHanh(...) giúp hệ thống kế toán off-chain lắng nghe tự động.</a:t>
            </a:r>
            <a:endParaRPr lang="vi-VN" altLang="en-US"/>
          </a:p>
        </p:txBody>
      </p:sp>
      <p:pic>
        <p:nvPicPr>
          <p:cNvPr id="702" name="PicSeq"/>
          <p:cNvPicPr>
            <a:picLocks noChangeAspect="1"/>
          </p:cNvPicPr>
          <p:nvPr/>
        </p:nvPicPr>
        <p:blipFill>
          <a:blip r:embed="rIdImg32"/>
          <a:stretch>
            <a:fillRect/>
          </a:stretch>
        </p:blipFill>
        <p:spPr>
          <a:xfrm>
            <a:off x="5120640" y="1508760"/>
            <a:ext cx="6519672" cy="466344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36072" y="2501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01. Đặt vấn đề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13434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02. Tiến độ báo cáo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90798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03. Kiến trúc Demo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78751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56113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874005" y="252000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04. Kết quả thực nghiệm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6332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2100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451199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05. Phân công &amp; Kết luận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00" name="Header"/>
          <p:cNvSpPr/>
          <p:nvPr/>
        </p:nvSpPr>
        <p:spPr>
          <a:xfrm>
            <a:off x="548640" y="868680"/>
            <a:ext cx="11091672" cy="502920"/>
          </a:xfrm>
          <a:prstGeom prst="roundRect">
            <a:avLst/>
          </a:prstGeom>
          <a:noFill/>
          <a:ln>
            <a:noFill/>
          </a:ln>
        </p:spPr>
        <p:txBody>
          <a:bodyPr rtlCol="0" anchor="t" lIns="144000" tIns="144000" rIns="144000" bIns="144000"/>
          <a:lstStyle/>
          <a:p>
            <a:pPr algn="l">
              <a:buNone/>
            </a:pPr>
            <a:r>
              <a:rPr lang="vi-VN" altLang="en-US" sz="1800" b="1" i="0">
                <a:solidFill>
                  <a:srgbClr val="1E3A8A"/>
                </a:solidFill>
                <a:latin typeface="Arial"/>
              </a:rPr>
              <a:t>6. KẾT QUẢ THỬ NGHIỆM THỰC TẾ — SEPOLIA &amp; KỊCH BẢN KIỂM THỬ</a:t>
            </a:r>
            <a:endParaRPr lang="vi-VN" altLang="en-US"/>
          </a:p>
        </p:txBody>
      </p:sp>
      <p:sp>
        <p:nvSpPr>
          <p:cNvPr id="801" name="CardTestDesc"/>
          <p:cNvSpPr/>
          <p:nvPr/>
        </p:nvSpPr>
        <p:spPr>
          <a:xfrm>
            <a:off x="548640" y="1508760"/>
            <a:ext cx="43891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rtlCol="0" anchor="t" lIns="144000" tIns="144000" rIns="144000" bIns="144000"/>
          <a:lstStyle/>
          <a:p>
            <a:pPr algn="l">
              <a:buNone/>
              <a:spcAft>
                <a:spcPts val="600"/>
              </a:spcAft>
            </a:pPr>
            <a:r>
              <a:rPr lang="vi-VN" altLang="en-US" sz="1300" b="1" i="0">
                <a:solidFill>
                  <a:srgbClr val="1E3A8A"/>
                </a:solidFill>
                <a:latin typeface="Arial"/>
              </a:rPr>
              <a:t>KẾT QUẢ THỰC NGHIỆM ĐẠT ĐƯỢC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600"/>
              </a:spcAft>
            </a:pPr>
            <a:r>
              <a:rPr lang="vi-VN" altLang="en-US" sz="1050" b="0" i="0">
                <a:solidFill>
                  <a:srgbClr val="059669"/>
                </a:solidFill>
                <a:latin typeface="Arial"/>
              </a:rPr>
              <a:t>Kịch bản 5 hóa đơn hợp lệ (HD-2026-001 đến 005): 100% Giao dịch thành công, được đóng gói vào block và phát sinh txHash.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600"/>
              </a:spcAft>
            </a:pPr>
            <a:r>
              <a:rPr lang="vi-VN" altLang="en-US" sz="1050" b="1" i="0">
                <a:solidFill>
                  <a:srgbClr val="DC2626"/>
                </a:solidFill>
                <a:latin typeface="Arial"/>
              </a:rPr>
              <a:t>Kịch bản xuất khống / trùng lặp (HD-2026-001 lặp lại): Smart Contract lập tức kích hoạt lệnh REVERT và từ chối ghi nhận vào sổ cái.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600"/>
              </a:spcAft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Sepolia Testnet: Deploy hợp đồng thành công và xác thực minh bạch qua Etherscan Explorer.</a:t>
            </a:r>
            <a:endParaRPr lang="vi-VN" altLang="en-US"/>
          </a:p>
          <a:p>
            <a:pPr algn="l">
              <a:buNone/>
            </a:pPr>
            <a:r>
              <a:rPr lang="vi-VN" altLang="en-US" sz="1000" b="1" i="0">
                <a:solidFill>
                  <a:srgbClr val="1E3A8A"/>
                </a:solidFill>
                <a:latin typeface="Arial"/>
              </a:rPr>
              <a:t>-&gt; Chứng minh tính khả thi và độ tin cậy tuyệt đối của giải pháp.</a:t>
            </a:r>
            <a:endParaRPr lang="vi-VN" altLang="en-US"/>
          </a:p>
        </p:txBody>
      </p:sp>
      <p:pic>
        <p:nvPicPr>
          <p:cNvPr id="802" name="PicTestRun"/>
          <p:cNvPicPr>
            <a:picLocks noChangeAspect="1"/>
          </p:cNvPicPr>
          <p:nvPr/>
        </p:nvPicPr>
        <p:blipFill>
          <a:blip r:embed="rIdImg41"/>
          <a:stretch>
            <a:fillRect/>
          </a:stretch>
        </p:blipFill>
        <p:spPr>
          <a:xfrm>
            <a:off x="5120640" y="1508760"/>
            <a:ext cx="6519672" cy="224028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  <p:pic>
        <p:nvPicPr>
          <p:cNvPr id="803" name="PicSepolia"/>
          <p:cNvPicPr>
            <a:picLocks noChangeAspect="1"/>
          </p:cNvPicPr>
          <p:nvPr/>
        </p:nvPicPr>
        <p:blipFill>
          <a:blip r:embed="rIdImg42"/>
          <a:stretch>
            <a:fillRect/>
          </a:stretch>
        </p:blipFill>
        <p:spPr>
          <a:xfrm>
            <a:off x="5120640" y="3931920"/>
            <a:ext cx="6519672" cy="224028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36072" y="2501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01. Đặt vấn đề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3434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02. Tiến độ báo cáo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290798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03. Kiến trúc Demo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478751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056113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874005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04. Kết quả thực nghiệm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46332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2100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451199" y="252000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05. Phân công &amp; Kết luận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6" name="矩形: 圆角 4"/>
          <p:cNvSpPr/>
          <p:nvPr/>
        </p:nvSpPr>
        <p:spPr>
          <a:xfrm>
            <a:off x="1162050" y="1642745"/>
            <a:ext cx="3829050" cy="4769485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212080" y="3450590"/>
            <a:ext cx="1617345" cy="53149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0" name="Header"/>
          <p:cNvSpPr/>
          <p:nvPr/>
        </p:nvSpPr>
        <p:spPr>
          <a:xfrm>
            <a:off x="548640" y="868680"/>
            <a:ext cx="11091672" cy="502920"/>
          </a:xfrm>
          <a:prstGeom prst="roundRect">
            <a:avLst/>
          </a:prstGeom>
          <a:noFill/>
          <a:ln>
            <a:noFill/>
          </a:ln>
        </p:spPr>
        <p:txBody>
          <a:bodyPr rtlCol="0" anchor="t" lIns="144000" tIns="144000" rIns="144000" bIns="144000"/>
          <a:lstStyle/>
          <a:p>
            <a:pPr algn="l">
              <a:buNone/>
            </a:pPr>
            <a:r>
              <a:rPr lang="vi-VN" altLang="en-US" sz="1800" b="1" i="0">
                <a:solidFill>
                  <a:srgbClr val="1E3A8A"/>
                </a:solidFill>
                <a:latin typeface="Arial"/>
              </a:rPr>
              <a:t>7. PHÂN CÔNG CÔNG VIỆC VÀ ĐÁNH GIÁ THÀNH VIÊN NHÓM</a:t>
            </a:r>
            <a:endParaRPr lang="vi-VN" altLang="en-US"/>
          </a:p>
        </p:txBody>
      </p:sp>
      <p:sp>
        <p:nvSpPr>
          <p:cNvPr id="901" name="Mem1"/>
          <p:cNvSpPr/>
          <p:nvPr/>
        </p:nvSpPr>
        <p:spPr>
          <a:xfrm>
            <a:off x="548640" y="1508760"/>
            <a:ext cx="34747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rtlCol="0" anchor="t" lIns="144000" tIns="144000" rIns="144000" bIns="144000"/>
          <a:lstStyle/>
          <a:p>
            <a:pPr algn="ctr">
              <a:buNone/>
              <a:spcAft>
                <a:spcPts val="200"/>
              </a:spcAft>
            </a:pPr>
            <a:r>
              <a:rPr lang="vi-VN" altLang="en-US" sz="1300" b="1" i="0">
                <a:solidFill>
                  <a:srgbClr val="1E3A8A"/>
                </a:solidFill>
                <a:latin typeface="Arial"/>
              </a:rPr>
              <a:t>TRƯỞNG NHÓM</a:t>
            </a:r>
            <a:endParaRPr lang="vi-VN" altLang="en-US"/>
          </a:p>
          <a:p>
            <a:pPr algn="ctr">
              <a:buNone/>
              <a:spcAft>
                <a:spcPts val="800"/>
              </a:spcAft>
            </a:pPr>
            <a:r>
              <a:rPr lang="vi-VN" altLang="en-US" sz="1100" b="1" i="0">
                <a:solidFill>
                  <a:srgbClr val="475569"/>
                </a:solidFill>
                <a:latin typeface="Arial"/>
              </a:rPr>
              <a:t>MSSV: 23DH00001</a:t>
            </a:r>
            <a:endParaRPr lang="vi-VN" altLang="en-US"/>
          </a:p>
          <a:p>
            <a:pPr algn="l">
              <a:buNone/>
              <a:spcAft>
                <a:spcPts val="400"/>
              </a:spcAft>
            </a:pPr>
            <a:r>
              <a:rPr lang="vi-VN" altLang="en-US" sz="1100" b="1" i="0">
                <a:solidFill>
                  <a:srgbClr val="0F172A"/>
                </a:solidFill>
                <a:latin typeface="Arial"/>
              </a:rPr>
              <a:t>Nội dung thực hiện: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3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Viết Báo cáo Chương 1: Giới thiệu, bối cảnh, lý do chọn đề tài.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3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Viết Báo cáo Chương 2: Cơ sở lý thuyết Blockchain &amp; hàm băm.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8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Lập kế hoạch phân công, tổng hợp tài liệu và chuẩn bị slide.</a:t>
            </a:r>
            <a:endParaRPr lang="vi-VN" altLang="en-US"/>
          </a:p>
          <a:p>
            <a:pPr algn="ctr">
              <a:buNone/>
            </a:pPr>
            <a:r>
              <a:rPr lang="vi-VN" altLang="en-US" sz="1050" b="1" i="0">
                <a:solidFill>
                  <a:srgbClr val="059669"/>
                </a:solidFill>
                <a:latin typeface="Arial"/>
              </a:rPr>
              <a:t>Đánh giá: 100% Khối lượng — Xuất sắc</a:t>
            </a:r>
            <a:endParaRPr lang="vi-VN" altLang="en-US"/>
          </a:p>
        </p:txBody>
      </p:sp>
      <p:sp>
        <p:nvSpPr>
          <p:cNvPr id="902" name="Mem2"/>
          <p:cNvSpPr/>
          <p:nvPr/>
        </p:nvSpPr>
        <p:spPr>
          <a:xfrm>
            <a:off x="4352544" y="1508760"/>
            <a:ext cx="34747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rtlCol="0" anchor="t" lIns="144000" tIns="144000" rIns="144000" bIns="144000"/>
          <a:lstStyle/>
          <a:p>
            <a:pPr algn="ctr">
              <a:buNone/>
              <a:spcAft>
                <a:spcPts val="200"/>
              </a:spcAft>
            </a:pPr>
            <a:r>
              <a:rPr lang="vi-VN" altLang="en-US" sz="1300" b="1" i="0">
                <a:solidFill>
                  <a:srgbClr val="1E3A8A"/>
                </a:solidFill>
                <a:latin typeface="Arial"/>
              </a:rPr>
              <a:t>THÀNH VIÊN 1</a:t>
            </a:r>
            <a:endParaRPr lang="vi-VN" altLang="en-US"/>
          </a:p>
          <a:p>
            <a:pPr algn="ctr">
              <a:buNone/>
              <a:spcAft>
                <a:spcPts val="800"/>
              </a:spcAft>
            </a:pPr>
            <a:r>
              <a:rPr lang="vi-VN" altLang="en-US" sz="1100" b="1" i="0">
                <a:solidFill>
                  <a:srgbClr val="475569"/>
                </a:solidFill>
                <a:latin typeface="Arial"/>
              </a:rPr>
              <a:t>MSSV: 23DH00002</a:t>
            </a:r>
            <a:endParaRPr lang="vi-VN" altLang="en-US"/>
          </a:p>
          <a:p>
            <a:pPr algn="l">
              <a:buNone/>
              <a:spcAft>
                <a:spcPts val="400"/>
              </a:spcAft>
            </a:pPr>
            <a:r>
              <a:rPr lang="vi-VN" altLang="en-US" sz="1100" b="1" i="0">
                <a:solidFill>
                  <a:srgbClr val="0F172A"/>
                </a:solidFill>
                <a:latin typeface="Arial"/>
              </a:rPr>
              <a:t>Nội dung thực hiện: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3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Viết Báo cáo Chương 3: Phân tích &amp; thiết kế kiến trúc hệ thống 3 tầng.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3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Lập trình Smart Contract Solidity HoaDonDienTu.sol (^0.8.20).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8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Vẽ sơ đồ kiến trúc và sơ đồ tuần tự 300 DPI.</a:t>
            </a:r>
            <a:endParaRPr lang="vi-VN" altLang="en-US"/>
          </a:p>
          <a:p>
            <a:pPr algn="ctr">
              <a:buNone/>
            </a:pPr>
            <a:r>
              <a:rPr lang="vi-VN" altLang="en-US" sz="1050" b="1" i="0">
                <a:solidFill>
                  <a:srgbClr val="059669"/>
                </a:solidFill>
                <a:latin typeface="Arial"/>
              </a:rPr>
              <a:t>Đánh giá: 100% Khối lượng — Xuất sắc</a:t>
            </a:r>
            <a:endParaRPr lang="vi-VN" altLang="en-US"/>
          </a:p>
        </p:txBody>
      </p:sp>
      <p:sp>
        <p:nvSpPr>
          <p:cNvPr id="903" name="Mem3"/>
          <p:cNvSpPr/>
          <p:nvPr/>
        </p:nvSpPr>
        <p:spPr>
          <a:xfrm>
            <a:off x="8165592" y="1508760"/>
            <a:ext cx="34747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rtlCol="0" anchor="t" lIns="144000" tIns="144000" rIns="144000" bIns="144000"/>
          <a:lstStyle/>
          <a:p>
            <a:pPr algn="ctr">
              <a:buNone/>
              <a:spcAft>
                <a:spcPts val="200"/>
              </a:spcAft>
            </a:pPr>
            <a:r>
              <a:rPr lang="vi-VN" altLang="en-US" sz="1300" b="1" i="0">
                <a:solidFill>
                  <a:srgbClr val="1E3A8A"/>
                </a:solidFill>
                <a:latin typeface="Arial"/>
              </a:rPr>
              <a:t>THÀNH VIÊN 2</a:t>
            </a:r>
            <a:endParaRPr lang="vi-VN" altLang="en-US"/>
          </a:p>
          <a:p>
            <a:pPr algn="ctr">
              <a:buNone/>
              <a:spcAft>
                <a:spcPts val="800"/>
              </a:spcAft>
            </a:pPr>
            <a:r>
              <a:rPr lang="vi-VN" altLang="en-US" sz="1100" b="1" i="0">
                <a:solidFill>
                  <a:srgbClr val="475569"/>
                </a:solidFill>
                <a:latin typeface="Arial"/>
              </a:rPr>
              <a:t>MSSV: 23DH00003</a:t>
            </a:r>
            <a:endParaRPr lang="vi-VN" altLang="en-US"/>
          </a:p>
          <a:p>
            <a:pPr algn="l">
              <a:buNone/>
              <a:spcAft>
                <a:spcPts val="400"/>
              </a:spcAft>
            </a:pPr>
            <a:r>
              <a:rPr lang="vi-VN" altLang="en-US" sz="1100" b="1" i="0">
                <a:solidFill>
                  <a:srgbClr val="0F172A"/>
                </a:solidFill>
                <a:latin typeface="Arial"/>
              </a:rPr>
              <a:t>Nội dung thực hiện: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3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Viết kịch bản kiểm thử Web3.py (demo_hoadon.py) và Sepolia deploy.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3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Thực hiện kịch bản test 5 HĐ hợp lệ + 1 HĐ trùng mã bị Revert.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800"/>
              </a:spcAft>
            </a:pPr>
            <a:r>
              <a:rPr lang="vi-VN" altLang="en-US" sz="1000" b="0" i="0">
                <a:solidFill>
                  <a:srgbClr val="0F172A"/>
                </a:solidFill>
                <a:latin typeface="Arial"/>
              </a:rPr>
              <a:t>Viết Báo cáo Chương 4 &amp; 5: Cài đặt, kết quả và kết luận.</a:t>
            </a:r>
            <a:endParaRPr lang="vi-VN" altLang="en-US"/>
          </a:p>
          <a:p>
            <a:pPr algn="ctr">
              <a:buNone/>
            </a:pPr>
            <a:r>
              <a:rPr lang="vi-VN" altLang="en-US" sz="1050" b="1" i="0">
                <a:solidFill>
                  <a:srgbClr val="059669"/>
                </a:solidFill>
                <a:latin typeface="Arial"/>
              </a:rPr>
              <a:t>Đánh giá: 100% Khối lượng — Xuất sắc</a:t>
            </a:r>
            <a:endParaRPr lang="vi-V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767621"/>
            <a:ext cx="12192000" cy="21780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2" name="组合 101"/>
          <p:cNvGrpSpPr/>
          <p:nvPr/>
        </p:nvGrpSpPr>
        <p:grpSpPr>
          <a:xfrm>
            <a:off x="2521679" y="2248210"/>
            <a:ext cx="7237880" cy="1340010"/>
            <a:chOff x="3462464" y="2252253"/>
            <a:chExt cx="7237880" cy="1340010"/>
          </a:xfrm>
        </p:grpSpPr>
        <p:sp>
          <p:nvSpPr>
            <p:cNvPr id="44" name="文本框 43"/>
            <p:cNvSpPr txBox="1"/>
            <p:nvPr/>
          </p:nvSpPr>
          <p:spPr>
            <a:xfrm>
              <a:off x="3462464" y="2252253"/>
              <a:ext cx="72378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400" b="1" spc="600" dirty="0">
                  <a:solidFill>
                    <a:schemeClr val="bg1"/>
                  </a:solidFill>
                </a:rPr>
                <a:t>CẢM ƠN THẦY VÀ CÁC BẠN ĐÃ LẮNG NGHE!</a:t>
              </a:r>
              <a:endParaRPr lang="zh-CN" altLang="en-US" sz="4400" b="1" spc="600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4686071" y="3130598"/>
              <a:ext cx="47906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spc="300" dirty="0">
                  <a:solidFill>
                    <a:schemeClr val="bg1"/>
                  </a:solidFill>
                </a:rPr>
                <a:t>KÍNH MONG NHẬN ĐƯỢC Ý KIẾN ĐÓNG GÓP &amp; HỎI ĐÁP (Q &amp; A)</a:t>
              </a:r>
              <a:endParaRPr lang="en-US" altLang="zh-CN" sz="2400" spc="300" dirty="0">
                <a:solidFill>
                  <a:schemeClr val="bg1"/>
                </a:solidFill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2471583" y="4889265"/>
            <a:ext cx="1461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/>
              <a:t>Nhóm Sinh viên thực hiện Đề tài 4</a:t>
            </a:r>
            <a:endParaRPr lang="zh-CN" altLang="en-US" spc="300" dirty="0"/>
          </a:p>
        </p:txBody>
      </p:sp>
      <p:sp>
        <p:nvSpPr>
          <p:cNvPr id="91" name="Freeform 174"/>
          <p:cNvSpPr/>
          <p:nvPr/>
        </p:nvSpPr>
        <p:spPr bwMode="auto">
          <a:xfrm>
            <a:off x="2179264" y="4965931"/>
            <a:ext cx="216000" cy="216000"/>
          </a:xfrm>
          <a:custGeom>
            <a:avLst/>
            <a:gdLst>
              <a:gd name="T0" fmla="*/ 128 w 128"/>
              <a:gd name="T1" fmla="*/ 128 h 128"/>
              <a:gd name="T2" fmla="*/ 128 w 128"/>
              <a:gd name="T3" fmla="*/ 115 h 128"/>
              <a:gd name="T4" fmla="*/ 118 w 128"/>
              <a:gd name="T5" fmla="*/ 101 h 128"/>
              <a:gd name="T6" fmla="*/ 118 w 128"/>
              <a:gd name="T7" fmla="*/ 101 h 128"/>
              <a:gd name="T8" fmla="*/ 83 w 128"/>
              <a:gd name="T9" fmla="*/ 84 h 128"/>
              <a:gd name="T10" fmla="*/ 85 w 128"/>
              <a:gd name="T11" fmla="*/ 72 h 128"/>
              <a:gd name="T12" fmla="*/ 88 w 128"/>
              <a:gd name="T13" fmla="*/ 68 h 128"/>
              <a:gd name="T14" fmla="*/ 88 w 128"/>
              <a:gd name="T15" fmla="*/ 68 h 128"/>
              <a:gd name="T16" fmla="*/ 88 w 128"/>
              <a:gd name="T17" fmla="*/ 68 h 128"/>
              <a:gd name="T18" fmla="*/ 97 w 128"/>
              <a:gd name="T19" fmla="*/ 36 h 128"/>
              <a:gd name="T20" fmla="*/ 64 w 128"/>
              <a:gd name="T21" fmla="*/ 0 h 128"/>
              <a:gd name="T22" fmla="*/ 64 w 128"/>
              <a:gd name="T23" fmla="*/ 0 h 128"/>
              <a:gd name="T24" fmla="*/ 64 w 128"/>
              <a:gd name="T25" fmla="*/ 0 h 128"/>
              <a:gd name="T26" fmla="*/ 64 w 128"/>
              <a:gd name="T27" fmla="*/ 0 h 128"/>
              <a:gd name="T28" fmla="*/ 64 w 128"/>
              <a:gd name="T29" fmla="*/ 0 h 128"/>
              <a:gd name="T30" fmla="*/ 31 w 128"/>
              <a:gd name="T31" fmla="*/ 36 h 128"/>
              <a:gd name="T32" fmla="*/ 40 w 128"/>
              <a:gd name="T33" fmla="*/ 68 h 128"/>
              <a:gd name="T34" fmla="*/ 40 w 128"/>
              <a:gd name="T35" fmla="*/ 68 h 128"/>
              <a:gd name="T36" fmla="*/ 40 w 128"/>
              <a:gd name="T37" fmla="*/ 68 h 128"/>
              <a:gd name="T38" fmla="*/ 43 w 128"/>
              <a:gd name="T39" fmla="*/ 72 h 128"/>
              <a:gd name="T40" fmla="*/ 45 w 128"/>
              <a:gd name="T41" fmla="*/ 84 h 128"/>
              <a:gd name="T42" fmla="*/ 10 w 128"/>
              <a:gd name="T43" fmla="*/ 101 h 128"/>
              <a:gd name="T44" fmla="*/ 10 w 128"/>
              <a:gd name="T45" fmla="*/ 101 h 128"/>
              <a:gd name="T46" fmla="*/ 0 w 128"/>
              <a:gd name="T47" fmla="*/ 115 h 128"/>
              <a:gd name="T48" fmla="*/ 0 w 128"/>
              <a:gd name="T49" fmla="*/ 128 h 128"/>
              <a:gd name="T50" fmla="*/ 128 w 128"/>
              <a:gd name="T51" fmla="*/ 12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8" h="128">
                <a:moveTo>
                  <a:pt x="128" y="128"/>
                </a:moveTo>
                <a:cubicBezTo>
                  <a:pt x="128" y="115"/>
                  <a:pt x="128" y="115"/>
                  <a:pt x="128" y="115"/>
                </a:cubicBezTo>
                <a:cubicBezTo>
                  <a:pt x="128" y="108"/>
                  <a:pt x="124" y="103"/>
                  <a:pt x="118" y="101"/>
                </a:cubicBezTo>
                <a:cubicBezTo>
                  <a:pt x="118" y="101"/>
                  <a:pt x="118" y="101"/>
                  <a:pt x="118" y="101"/>
                </a:cubicBezTo>
                <a:cubicBezTo>
                  <a:pt x="117" y="100"/>
                  <a:pt x="87" y="93"/>
                  <a:pt x="83" y="84"/>
                </a:cubicBezTo>
                <a:cubicBezTo>
                  <a:pt x="81" y="80"/>
                  <a:pt x="83" y="75"/>
                  <a:pt x="85" y="72"/>
                </a:cubicBezTo>
                <a:cubicBezTo>
                  <a:pt x="86" y="71"/>
                  <a:pt x="87" y="69"/>
                  <a:pt x="88" y="68"/>
                </a:cubicBezTo>
                <a:cubicBezTo>
                  <a:pt x="88" y="68"/>
                  <a:pt x="88" y="68"/>
                  <a:pt x="88" y="68"/>
                </a:cubicBezTo>
                <a:cubicBezTo>
                  <a:pt x="88" y="68"/>
                  <a:pt x="88" y="68"/>
                  <a:pt x="88" y="68"/>
                </a:cubicBezTo>
                <a:cubicBezTo>
                  <a:pt x="93" y="60"/>
                  <a:pt x="97" y="49"/>
                  <a:pt x="97" y="36"/>
                </a:cubicBezTo>
                <a:cubicBezTo>
                  <a:pt x="98" y="16"/>
                  <a:pt x="82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46" y="0"/>
                  <a:pt x="30" y="16"/>
                  <a:pt x="31" y="36"/>
                </a:cubicBezTo>
                <a:cubicBezTo>
                  <a:pt x="31" y="49"/>
                  <a:pt x="35" y="60"/>
                  <a:pt x="40" y="68"/>
                </a:cubicBezTo>
                <a:cubicBezTo>
                  <a:pt x="40" y="68"/>
                  <a:pt x="40" y="68"/>
                  <a:pt x="40" y="68"/>
                </a:cubicBezTo>
                <a:cubicBezTo>
                  <a:pt x="40" y="68"/>
                  <a:pt x="40" y="68"/>
                  <a:pt x="40" y="68"/>
                </a:cubicBezTo>
                <a:cubicBezTo>
                  <a:pt x="41" y="69"/>
                  <a:pt x="42" y="71"/>
                  <a:pt x="43" y="72"/>
                </a:cubicBezTo>
                <a:cubicBezTo>
                  <a:pt x="45" y="75"/>
                  <a:pt x="47" y="80"/>
                  <a:pt x="45" y="84"/>
                </a:cubicBezTo>
                <a:cubicBezTo>
                  <a:pt x="41" y="93"/>
                  <a:pt x="11" y="100"/>
                  <a:pt x="10" y="101"/>
                </a:cubicBezTo>
                <a:cubicBezTo>
                  <a:pt x="10" y="101"/>
                  <a:pt x="10" y="101"/>
                  <a:pt x="10" y="101"/>
                </a:cubicBezTo>
                <a:cubicBezTo>
                  <a:pt x="4" y="103"/>
                  <a:pt x="0" y="108"/>
                  <a:pt x="0" y="115"/>
                </a:cubicBezTo>
                <a:cubicBezTo>
                  <a:pt x="0" y="128"/>
                  <a:pt x="0" y="128"/>
                  <a:pt x="0" y="128"/>
                </a:cubicBezTo>
                <a:lnTo>
                  <a:pt x="128" y="1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8042438" y="5394262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Học kỳ 2 — Năm học 2025 - 2026</a:t>
            </a:r>
            <a:r>
              <a:rPr lang="en-US" altLang="zh-CN" spc="200" dirty="0"/>
              <a:t>Học kỳ 2 — Năm học 2025 - 2026</a:t>
            </a:r>
            <a:endParaRPr lang="zh-CN" altLang="en-US" dirty="0"/>
          </a:p>
        </p:txBody>
      </p:sp>
      <p:grpSp>
        <p:nvGrpSpPr>
          <p:cNvPr id="92" name="组合 91"/>
          <p:cNvGrpSpPr/>
          <p:nvPr/>
        </p:nvGrpSpPr>
        <p:grpSpPr>
          <a:xfrm>
            <a:off x="7750119" y="5470928"/>
            <a:ext cx="216000" cy="216000"/>
            <a:chOff x="7296150" y="5111751"/>
            <a:chExt cx="479425" cy="481013"/>
          </a:xfrm>
          <a:solidFill>
            <a:schemeClr val="accent1"/>
          </a:solidFill>
        </p:grpSpPr>
        <p:sp>
          <p:nvSpPr>
            <p:cNvPr id="93" name="Freeform 56"/>
            <p:cNvSpPr>
              <a:spLocks noEditPoints="1"/>
            </p:cNvSpPr>
            <p:nvPr/>
          </p:nvSpPr>
          <p:spPr bwMode="auto">
            <a:xfrm>
              <a:off x="7296150" y="5111751"/>
              <a:ext cx="479425" cy="481013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64 w 128"/>
                <a:gd name="T11" fmla="*/ 113 h 128"/>
                <a:gd name="T12" fmla="*/ 15 w 128"/>
                <a:gd name="T13" fmla="*/ 64 h 128"/>
                <a:gd name="T14" fmla="*/ 64 w 128"/>
                <a:gd name="T15" fmla="*/ 15 h 128"/>
                <a:gd name="T16" fmla="*/ 113 w 128"/>
                <a:gd name="T17" fmla="*/ 64 h 128"/>
                <a:gd name="T18" fmla="*/ 64 w 128"/>
                <a:gd name="T19" fmla="*/ 11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64" y="113"/>
                  </a:moveTo>
                  <a:cubicBezTo>
                    <a:pt x="37" y="113"/>
                    <a:pt x="15" y="91"/>
                    <a:pt x="15" y="64"/>
                  </a:cubicBezTo>
                  <a:cubicBezTo>
                    <a:pt x="15" y="37"/>
                    <a:pt x="37" y="15"/>
                    <a:pt x="64" y="15"/>
                  </a:cubicBezTo>
                  <a:cubicBezTo>
                    <a:pt x="91" y="15"/>
                    <a:pt x="113" y="37"/>
                    <a:pt x="113" y="64"/>
                  </a:cubicBezTo>
                  <a:cubicBezTo>
                    <a:pt x="113" y="91"/>
                    <a:pt x="91" y="113"/>
                    <a:pt x="64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ns2:hiddenLine w="9525">
                  <a:solidFill>
                    <a:srgbClr val="000000"/>
                  </a:solidFill>
                  <a:round/>
                </ns2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57"/>
            <p:cNvSpPr/>
            <p:nvPr/>
          </p:nvSpPr>
          <p:spPr bwMode="auto">
            <a:xfrm>
              <a:off x="7508875" y="5221288"/>
              <a:ext cx="153988" cy="214313"/>
            </a:xfrm>
            <a:custGeom>
              <a:avLst/>
              <a:gdLst>
                <a:gd name="T0" fmla="*/ 33 w 97"/>
                <a:gd name="T1" fmla="*/ 0 h 135"/>
                <a:gd name="T2" fmla="*/ 0 w 97"/>
                <a:gd name="T3" fmla="*/ 0 h 135"/>
                <a:gd name="T4" fmla="*/ 0 w 97"/>
                <a:gd name="T5" fmla="*/ 99 h 135"/>
                <a:gd name="T6" fmla="*/ 86 w 97"/>
                <a:gd name="T7" fmla="*/ 135 h 135"/>
                <a:gd name="T8" fmla="*/ 97 w 97"/>
                <a:gd name="T9" fmla="*/ 104 h 135"/>
                <a:gd name="T10" fmla="*/ 33 w 97"/>
                <a:gd name="T11" fmla="*/ 78 h 135"/>
                <a:gd name="T12" fmla="*/ 33 w 97"/>
                <a:gd name="T1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35">
                  <a:moveTo>
                    <a:pt x="33" y="0"/>
                  </a:moveTo>
                  <a:lnTo>
                    <a:pt x="0" y="0"/>
                  </a:lnTo>
                  <a:lnTo>
                    <a:pt x="0" y="99"/>
                  </a:lnTo>
                  <a:lnTo>
                    <a:pt x="86" y="135"/>
                  </a:lnTo>
                  <a:lnTo>
                    <a:pt x="97" y="104"/>
                  </a:lnTo>
                  <a:lnTo>
                    <a:pt x="33" y="78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ns2:hiddenLine w="9525">
                  <a:solidFill>
                    <a:srgbClr val="000000"/>
                  </a:solidFill>
                  <a:round/>
                </ns2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8042438" y="4889803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Khoa Công nghệ Thông tin — HUFLIT</a:t>
            </a:r>
            <a:endParaRPr lang="zh-CN" altLang="en-US" dirty="0"/>
          </a:p>
        </p:txBody>
      </p:sp>
      <p:sp>
        <p:nvSpPr>
          <p:cNvPr id="95" name="Freeform 146"/>
          <p:cNvSpPr/>
          <p:nvPr/>
        </p:nvSpPr>
        <p:spPr bwMode="auto">
          <a:xfrm>
            <a:off x="7767775" y="4967119"/>
            <a:ext cx="180689" cy="214701"/>
          </a:xfrm>
          <a:custGeom>
            <a:avLst/>
            <a:gdLst>
              <a:gd name="T0" fmla="*/ 14 w 108"/>
              <a:gd name="T1" fmla="*/ 10 h 128"/>
              <a:gd name="T2" fmla="*/ 14 w 108"/>
              <a:gd name="T3" fmla="*/ 10 h 128"/>
              <a:gd name="T4" fmla="*/ 108 w 108"/>
              <a:gd name="T5" fmla="*/ 10 h 128"/>
              <a:gd name="T6" fmla="*/ 108 w 108"/>
              <a:gd name="T7" fmla="*/ 0 h 128"/>
              <a:gd name="T8" fmla="*/ 15 w 108"/>
              <a:gd name="T9" fmla="*/ 0 h 128"/>
              <a:gd name="T10" fmla="*/ 0 w 108"/>
              <a:gd name="T11" fmla="*/ 15 h 128"/>
              <a:gd name="T12" fmla="*/ 0 w 108"/>
              <a:gd name="T13" fmla="*/ 113 h 128"/>
              <a:gd name="T14" fmla="*/ 0 w 108"/>
              <a:gd name="T15" fmla="*/ 113 h 128"/>
              <a:gd name="T16" fmla="*/ 15 w 108"/>
              <a:gd name="T17" fmla="*/ 128 h 128"/>
              <a:gd name="T18" fmla="*/ 108 w 108"/>
              <a:gd name="T19" fmla="*/ 128 h 128"/>
              <a:gd name="T20" fmla="*/ 108 w 108"/>
              <a:gd name="T21" fmla="*/ 20 h 128"/>
              <a:gd name="T22" fmla="*/ 14 w 108"/>
              <a:gd name="T23" fmla="*/ 20 h 128"/>
              <a:gd name="T24" fmla="*/ 14 w 108"/>
              <a:gd name="T25" fmla="*/ 20 h 128"/>
              <a:gd name="T26" fmla="*/ 10 w 108"/>
              <a:gd name="T27" fmla="*/ 15 h 128"/>
              <a:gd name="T28" fmla="*/ 14 w 108"/>
              <a:gd name="T29" fmla="*/ 1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8" h="128">
                <a:moveTo>
                  <a:pt x="14" y="10"/>
                </a:moveTo>
                <a:cubicBezTo>
                  <a:pt x="14" y="10"/>
                  <a:pt x="14" y="10"/>
                  <a:pt x="14" y="10"/>
                </a:cubicBezTo>
                <a:cubicBezTo>
                  <a:pt x="15" y="10"/>
                  <a:pt x="78" y="10"/>
                  <a:pt x="108" y="10"/>
                </a:cubicBezTo>
                <a:cubicBezTo>
                  <a:pt x="108" y="0"/>
                  <a:pt x="108" y="0"/>
                  <a:pt x="108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7"/>
                  <a:pt x="0" y="15"/>
                </a:cubicBezTo>
                <a:cubicBezTo>
                  <a:pt x="0" y="16"/>
                  <a:pt x="0" y="83"/>
                  <a:pt x="0" y="113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21"/>
                  <a:pt x="7" y="128"/>
                  <a:pt x="15" y="128"/>
                </a:cubicBezTo>
                <a:cubicBezTo>
                  <a:pt x="15" y="128"/>
                  <a:pt x="82" y="128"/>
                  <a:pt x="108" y="128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2" y="19"/>
                  <a:pt x="10" y="17"/>
                  <a:pt x="10" y="15"/>
                </a:cubicBezTo>
                <a:cubicBezTo>
                  <a:pt x="10" y="12"/>
                  <a:pt x="12" y="10"/>
                  <a:pt x="14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2471583" y="5393724"/>
            <a:ext cx="1452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Giảng viên hướng dẫn: TS. Trần Minh Thái</a:t>
            </a:r>
            <a:endParaRPr lang="zh-CN" altLang="en-US" dirty="0"/>
          </a:p>
        </p:txBody>
      </p:sp>
      <p:sp>
        <p:nvSpPr>
          <p:cNvPr id="96" name="teacher-reading-a-book-sitting-behind-his-desk_42916"/>
          <p:cNvSpPr/>
          <p:nvPr/>
        </p:nvSpPr>
        <p:spPr>
          <a:xfrm>
            <a:off x="2179264" y="5452809"/>
            <a:ext cx="216000" cy="251163"/>
          </a:xfrm>
          <a:custGeom>
            <a:avLst/>
            <a:gdLst>
              <a:gd name="connsiteX0" fmla="*/ 193784 w 523934"/>
              <a:gd name="connsiteY0" fmla="*/ 190536 h 609225"/>
              <a:gd name="connsiteX1" fmla="*/ 193784 w 523934"/>
              <a:gd name="connsiteY1" fmla="*/ 227817 h 609225"/>
              <a:gd name="connsiteX2" fmla="*/ 205267 w 523934"/>
              <a:gd name="connsiteY2" fmla="*/ 227817 h 609225"/>
              <a:gd name="connsiteX3" fmla="*/ 205267 w 523934"/>
              <a:gd name="connsiteY3" fmla="*/ 273700 h 609225"/>
              <a:gd name="connsiteX4" fmla="*/ 193784 w 523934"/>
              <a:gd name="connsiteY4" fmla="*/ 273700 h 609225"/>
              <a:gd name="connsiteX5" fmla="*/ 193784 w 523934"/>
              <a:gd name="connsiteY5" fmla="*/ 283737 h 609225"/>
              <a:gd name="connsiteX6" fmla="*/ 256943 w 523934"/>
              <a:gd name="connsiteY6" fmla="*/ 295208 h 609225"/>
              <a:gd name="connsiteX7" fmla="*/ 320102 w 523934"/>
              <a:gd name="connsiteY7" fmla="*/ 283737 h 609225"/>
              <a:gd name="connsiteX8" fmla="*/ 320102 w 523934"/>
              <a:gd name="connsiteY8" fmla="*/ 273700 h 609225"/>
              <a:gd name="connsiteX9" fmla="*/ 308619 w 523934"/>
              <a:gd name="connsiteY9" fmla="*/ 273700 h 609225"/>
              <a:gd name="connsiteX10" fmla="*/ 308619 w 523934"/>
              <a:gd name="connsiteY10" fmla="*/ 227817 h 609225"/>
              <a:gd name="connsiteX11" fmla="*/ 320102 w 523934"/>
              <a:gd name="connsiteY11" fmla="*/ 227817 h 609225"/>
              <a:gd name="connsiteX12" fmla="*/ 320102 w 523934"/>
              <a:gd name="connsiteY12" fmla="*/ 190536 h 609225"/>
              <a:gd name="connsiteX13" fmla="*/ 256943 w 523934"/>
              <a:gd name="connsiteY13" fmla="*/ 202007 h 609225"/>
              <a:gd name="connsiteX14" fmla="*/ 175123 w 523934"/>
              <a:gd name="connsiteY14" fmla="*/ 167594 h 609225"/>
              <a:gd name="connsiteX15" fmla="*/ 256943 w 523934"/>
              <a:gd name="connsiteY15" fmla="*/ 181933 h 609225"/>
              <a:gd name="connsiteX16" fmla="*/ 340198 w 523934"/>
              <a:gd name="connsiteY16" fmla="*/ 167594 h 609225"/>
              <a:gd name="connsiteX17" fmla="*/ 340198 w 523934"/>
              <a:gd name="connsiteY17" fmla="*/ 184801 h 609225"/>
              <a:gd name="connsiteX18" fmla="*/ 384697 w 523934"/>
              <a:gd name="connsiteY18" fmla="*/ 190536 h 609225"/>
              <a:gd name="connsiteX19" fmla="*/ 394745 w 523934"/>
              <a:gd name="connsiteY19" fmla="*/ 227817 h 609225"/>
              <a:gd name="connsiteX20" fmla="*/ 409099 w 523934"/>
              <a:gd name="connsiteY20" fmla="*/ 273700 h 609225"/>
              <a:gd name="connsiteX21" fmla="*/ 348811 w 523934"/>
              <a:gd name="connsiteY21" fmla="*/ 273700 h 609225"/>
              <a:gd name="connsiteX22" fmla="*/ 350246 w 523934"/>
              <a:gd name="connsiteY22" fmla="*/ 308113 h 609225"/>
              <a:gd name="connsiteX23" fmla="*/ 523934 w 523934"/>
              <a:gd name="connsiteY23" fmla="*/ 308113 h 609225"/>
              <a:gd name="connsiteX24" fmla="*/ 523934 w 523934"/>
              <a:gd name="connsiteY24" fmla="*/ 376939 h 609225"/>
              <a:gd name="connsiteX25" fmla="*/ 482306 w 523934"/>
              <a:gd name="connsiteY25" fmla="*/ 376939 h 609225"/>
              <a:gd name="connsiteX26" fmla="*/ 482306 w 523934"/>
              <a:gd name="connsiteY26" fmla="*/ 609225 h 609225"/>
              <a:gd name="connsiteX27" fmla="*/ 41628 w 523934"/>
              <a:gd name="connsiteY27" fmla="*/ 609225 h 609225"/>
              <a:gd name="connsiteX28" fmla="*/ 41628 w 523934"/>
              <a:gd name="connsiteY28" fmla="*/ 376939 h 609225"/>
              <a:gd name="connsiteX29" fmla="*/ 0 w 523934"/>
              <a:gd name="connsiteY29" fmla="*/ 376939 h 609225"/>
              <a:gd name="connsiteX30" fmla="*/ 0 w 523934"/>
              <a:gd name="connsiteY30" fmla="*/ 308113 h 609225"/>
              <a:gd name="connsiteX31" fmla="*/ 170817 w 523934"/>
              <a:gd name="connsiteY31" fmla="*/ 308113 h 609225"/>
              <a:gd name="connsiteX32" fmla="*/ 170817 w 523934"/>
              <a:gd name="connsiteY32" fmla="*/ 273700 h 609225"/>
              <a:gd name="connsiteX33" fmla="*/ 99045 w 523934"/>
              <a:gd name="connsiteY33" fmla="*/ 273700 h 609225"/>
              <a:gd name="connsiteX34" fmla="*/ 104787 w 523934"/>
              <a:gd name="connsiteY34" fmla="*/ 262229 h 609225"/>
              <a:gd name="connsiteX35" fmla="*/ 103351 w 523934"/>
              <a:gd name="connsiteY35" fmla="*/ 262229 h 609225"/>
              <a:gd name="connsiteX36" fmla="*/ 139237 w 523934"/>
              <a:gd name="connsiteY36" fmla="*/ 190536 h 609225"/>
              <a:gd name="connsiteX37" fmla="*/ 175123 w 523934"/>
              <a:gd name="connsiteY37" fmla="*/ 186235 h 609225"/>
              <a:gd name="connsiteX38" fmla="*/ 261393 w 523934"/>
              <a:gd name="connsiteY38" fmla="*/ 0 h 609225"/>
              <a:gd name="connsiteX39" fmla="*/ 344616 w 523934"/>
              <a:gd name="connsiteY39" fmla="*/ 83108 h 609225"/>
              <a:gd name="connsiteX40" fmla="*/ 261393 w 523934"/>
              <a:gd name="connsiteY40" fmla="*/ 166216 h 609225"/>
              <a:gd name="connsiteX41" fmla="*/ 178170 w 523934"/>
              <a:gd name="connsiteY41" fmla="*/ 83108 h 609225"/>
              <a:gd name="connsiteX42" fmla="*/ 261393 w 523934"/>
              <a:gd name="connsiteY42" fmla="*/ 0 h 6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23934" h="609225">
                <a:moveTo>
                  <a:pt x="193784" y="190536"/>
                </a:moveTo>
                <a:lnTo>
                  <a:pt x="193784" y="227817"/>
                </a:lnTo>
                <a:lnTo>
                  <a:pt x="205267" y="227817"/>
                </a:lnTo>
                <a:lnTo>
                  <a:pt x="205267" y="273700"/>
                </a:lnTo>
                <a:lnTo>
                  <a:pt x="193784" y="273700"/>
                </a:lnTo>
                <a:lnTo>
                  <a:pt x="193784" y="283737"/>
                </a:lnTo>
                <a:lnTo>
                  <a:pt x="256943" y="295208"/>
                </a:lnTo>
                <a:lnTo>
                  <a:pt x="320102" y="283737"/>
                </a:lnTo>
                <a:lnTo>
                  <a:pt x="320102" y="273700"/>
                </a:lnTo>
                <a:lnTo>
                  <a:pt x="308619" y="273700"/>
                </a:lnTo>
                <a:lnTo>
                  <a:pt x="308619" y="227817"/>
                </a:lnTo>
                <a:lnTo>
                  <a:pt x="320102" y="227817"/>
                </a:lnTo>
                <a:lnTo>
                  <a:pt x="320102" y="190536"/>
                </a:lnTo>
                <a:lnTo>
                  <a:pt x="256943" y="202007"/>
                </a:lnTo>
                <a:close/>
                <a:moveTo>
                  <a:pt x="175123" y="167594"/>
                </a:moveTo>
                <a:lnTo>
                  <a:pt x="256943" y="181933"/>
                </a:lnTo>
                <a:lnTo>
                  <a:pt x="340198" y="167594"/>
                </a:lnTo>
                <a:lnTo>
                  <a:pt x="340198" y="184801"/>
                </a:lnTo>
                <a:lnTo>
                  <a:pt x="384697" y="190536"/>
                </a:lnTo>
                <a:lnTo>
                  <a:pt x="394745" y="227817"/>
                </a:lnTo>
                <a:lnTo>
                  <a:pt x="409099" y="273700"/>
                </a:lnTo>
                <a:lnTo>
                  <a:pt x="348811" y="273700"/>
                </a:lnTo>
                <a:lnTo>
                  <a:pt x="350246" y="308113"/>
                </a:lnTo>
                <a:lnTo>
                  <a:pt x="523934" y="308113"/>
                </a:lnTo>
                <a:lnTo>
                  <a:pt x="523934" y="376939"/>
                </a:lnTo>
                <a:lnTo>
                  <a:pt x="482306" y="376939"/>
                </a:lnTo>
                <a:lnTo>
                  <a:pt x="482306" y="609225"/>
                </a:lnTo>
                <a:lnTo>
                  <a:pt x="41628" y="609225"/>
                </a:lnTo>
                <a:lnTo>
                  <a:pt x="41628" y="376939"/>
                </a:lnTo>
                <a:lnTo>
                  <a:pt x="0" y="376939"/>
                </a:lnTo>
                <a:lnTo>
                  <a:pt x="0" y="308113"/>
                </a:lnTo>
                <a:lnTo>
                  <a:pt x="170817" y="308113"/>
                </a:lnTo>
                <a:lnTo>
                  <a:pt x="170817" y="273700"/>
                </a:lnTo>
                <a:lnTo>
                  <a:pt x="99045" y="273700"/>
                </a:lnTo>
                <a:lnTo>
                  <a:pt x="104787" y="262229"/>
                </a:lnTo>
                <a:lnTo>
                  <a:pt x="103351" y="262229"/>
                </a:lnTo>
                <a:lnTo>
                  <a:pt x="139237" y="190536"/>
                </a:lnTo>
                <a:lnTo>
                  <a:pt x="175123" y="186235"/>
                </a:lnTo>
                <a:close/>
                <a:moveTo>
                  <a:pt x="261393" y="0"/>
                </a:moveTo>
                <a:cubicBezTo>
                  <a:pt x="307356" y="0"/>
                  <a:pt x="344616" y="37209"/>
                  <a:pt x="344616" y="83108"/>
                </a:cubicBezTo>
                <a:cubicBezTo>
                  <a:pt x="344616" y="129007"/>
                  <a:pt x="307356" y="166216"/>
                  <a:pt x="261393" y="166216"/>
                </a:cubicBezTo>
                <a:cubicBezTo>
                  <a:pt x="215430" y="166216"/>
                  <a:pt x="178170" y="129007"/>
                  <a:pt x="178170" y="83108"/>
                </a:cubicBezTo>
                <a:cubicBezTo>
                  <a:pt x="178170" y="37209"/>
                  <a:pt x="215430" y="0"/>
                  <a:pt x="26139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1" name="PlanBox"/>
          <p:cNvSpPr/>
          <p:nvPr/>
        </p:nvSpPr>
        <p:spPr>
          <a:xfrm>
            <a:off x="1828800" y="4023360"/>
            <a:ext cx="8531352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txBody>
          <a:bodyPr rtlCol="0" anchor="t" lIns="144000" tIns="144000" rIns="144000" bIns="144000"/>
          <a:lstStyle/>
          <a:p>
            <a:pPr algn="ctr">
              <a:buNone/>
              <a:spcAft>
                <a:spcPts val="600"/>
              </a:spcAft>
            </a:pPr>
            <a:r>
              <a:rPr lang="vi-VN" altLang="en-US" sz="1200" b="1" i="0">
                <a:solidFill>
                  <a:srgbClr val="1E3A8A"/>
                </a:solidFill>
                <a:latin typeface="Arial"/>
              </a:rPr>
              <a:t>KẾ HOẠCH HOÀN THIỆN ĐỒ ÁN (ĐẾN KỲ NỘP CUỐI KỲ)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400"/>
              </a:spcAft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1. Phát triển giao diện Web dApp tương tác trực tiếp với ví MetaMask người dùng.</a:t>
            </a:r>
            <a:endParaRPr lang="vi-VN" altLang="en-US"/>
          </a:p>
          <a:p>
            <a:pPr algn="l">
              <a:buChar char="•"/>
              <a:buFont typeface="Arial"/>
              <a:spcAft>
                <a:spcPts val="400"/>
              </a:spcAft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2. Tích hợp giải pháp băm mã hóa XML hóa đơn gốc lưu trữ trên IPFS để tối ưu hóa chi phí Gas.</a:t>
            </a:r>
            <a:endParaRPr lang="vi-VN" altLang="en-US"/>
          </a:p>
          <a:p>
            <a:pPr algn="l">
              <a:buChar char="•"/>
              <a:buFont typeface="Arial"/>
            </a:pPr>
            <a:r>
              <a:rPr lang="vi-VN" altLang="en-US" sz="1050" b="0" i="0">
                <a:solidFill>
                  <a:srgbClr val="0F172A"/>
                </a:solidFill>
                <a:latin typeface="Arial"/>
              </a:rPr>
              <a:t>3. Nghiên cứu giải pháp mở rộng Layer-2 (Rollups) nhằm phục vụ quy mô hàng triệu giao dịch.</a:t>
            </a:r>
            <a:endParaRPr lang="vi-V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ISLIDE.ICON" val="#151255;"/>
</p:tagLst>
</file>

<file path=ppt/tags/tag2.xml><?xml version="1.0" encoding="utf-8"?>
<p:tagLst xmlns:p="http://schemas.openxmlformats.org/presentationml/2006/main">
  <p:tag name="ISLIDE.ICON" val="#151255;"/>
</p:tagLst>
</file>

<file path=ppt/tags/tag3.xml><?xml version="1.0" encoding="utf-8"?>
<p:tagLst xmlns:p="http://schemas.openxmlformats.org/presentationml/2006/main">
  <p:tag name="COMMONDATA" val="eyJoZGlkIjoiZmIxYzhmNmFkYTc5YzBkNGM3ZDU5YWNhZDcxMDA1MjIifQ=="/>
</p:tagLst>
</file>

<file path=ppt/theme/theme1.xml><?xml version="1.0" encoding="utf-8"?>
<a:theme xmlns:a="http://schemas.openxmlformats.org/drawingml/2006/main" name="Office 主题​​">
  <a:themeElements>
    <a:clrScheme name="武汉大学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1574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83060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WPS 演示</Application>
  <PresentationFormat>宽屏</PresentationFormat>
  <Paragraphs>159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等线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亿万个为什么</cp:lastModifiedBy>
  <cp:revision>67</cp:revision>
  <dcterms:created xsi:type="dcterms:W3CDTF">2023-01-05T18:27:00Z</dcterms:created>
  <dcterms:modified xsi:type="dcterms:W3CDTF">2026-06-02T05:32:50Z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210A080B608D427F8BA010F487760989_13</vt:lpwstr>
  </property>
  <property fmtid="{D5CDD505-2E9C-101B-9397-08002B2CF9AE}" pid="3" name="KSOProductBuildVer">
    <vt:lpwstr>2052-12.1.0.21171</vt:lpwstr>
  </property>
</Properties>
</file>